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61" r:id="rId4"/>
    <p:sldId id="262" r:id="rId5"/>
    <p:sldId id="263" r:id="rId6"/>
    <p:sldId id="264" r:id="rId7"/>
    <p:sldId id="269" r:id="rId8"/>
    <p:sldId id="27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1918" autoAdjust="0"/>
  </p:normalViewPr>
  <p:slideViewPr>
    <p:cSldViewPr snapToGrid="0">
      <p:cViewPr varScale="1">
        <p:scale>
          <a:sx n="104" d="100"/>
          <a:sy n="104" d="100"/>
        </p:scale>
        <p:origin x="85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BEC8005-01E2-4B39-A2BE-C825DB04EC0F}" type="doc">
      <dgm:prSet loTypeId="urn:microsoft.com/office/officeart/2005/8/layout/vList5" loCatId="list" qsTypeId="urn:microsoft.com/office/officeart/2005/8/quickstyle/simple1" qsCatId="simple" csTypeId="urn:microsoft.com/office/officeart/2005/8/colors/accent2_3" csCatId="accent2" phldr="1"/>
      <dgm:spPr/>
      <dgm:t>
        <a:bodyPr/>
        <a:lstStyle/>
        <a:p>
          <a:endParaRPr lang="en-GB"/>
        </a:p>
      </dgm:t>
    </dgm:pt>
    <dgm:pt modelId="{A241C06F-6779-4FF3-9B9B-2173B3CC33AB}">
      <dgm:prSet phldrT="[Text]"/>
      <dgm:spPr/>
      <dgm:t>
        <a:bodyPr/>
        <a:lstStyle/>
        <a:p>
          <a:pPr>
            <a:buFont typeface="+mj-lt"/>
            <a:buAutoNum type="alphaLcParenR"/>
          </a:pPr>
          <a:r>
            <a:rPr lang="en-GB" b="1" dirty="0"/>
            <a:t>Lab 1</a:t>
          </a:r>
          <a:endParaRPr lang="en-GB" dirty="0"/>
        </a:p>
      </dgm:t>
    </dgm:pt>
    <dgm:pt modelId="{1F72EB91-BAD9-4C7C-90BE-86129D52850C}" type="parTrans" cxnId="{588BE7E4-DA2E-4B42-9EB4-26E0AC0494B7}">
      <dgm:prSet/>
      <dgm:spPr/>
      <dgm:t>
        <a:bodyPr/>
        <a:lstStyle/>
        <a:p>
          <a:endParaRPr lang="en-GB"/>
        </a:p>
      </dgm:t>
    </dgm:pt>
    <dgm:pt modelId="{112C531A-6C9C-4516-A5AE-43CD30579FFC}" type="sibTrans" cxnId="{588BE7E4-DA2E-4B42-9EB4-26E0AC0494B7}">
      <dgm:prSet/>
      <dgm:spPr/>
      <dgm:t>
        <a:bodyPr/>
        <a:lstStyle/>
        <a:p>
          <a:endParaRPr lang="en-GB"/>
        </a:p>
      </dgm:t>
    </dgm:pt>
    <dgm:pt modelId="{4484ADCE-692F-48F3-9A66-BF5BC34F1694}">
      <dgm:prSet/>
      <dgm:spPr/>
      <dgm:t>
        <a:bodyPr/>
        <a:lstStyle/>
        <a:p>
          <a:r>
            <a:rPr lang="en-GB" dirty="0">
              <a:sym typeface="Wingdings" panose="05000000000000000000" pitchFamily="2" charset="2"/>
            </a:rPr>
            <a:t>Metrics for Natural Language Generation (NLG)</a:t>
          </a:r>
        </a:p>
      </dgm:t>
    </dgm:pt>
    <dgm:pt modelId="{12606303-4B77-4E6C-A8B2-918B851A941F}" type="parTrans" cxnId="{22E09AF4-5F31-47B2-A1B9-43EFA345AEE7}">
      <dgm:prSet/>
      <dgm:spPr/>
      <dgm:t>
        <a:bodyPr/>
        <a:lstStyle/>
        <a:p>
          <a:endParaRPr lang="en-GB"/>
        </a:p>
      </dgm:t>
    </dgm:pt>
    <dgm:pt modelId="{1F6E3BEA-6433-4960-BE2B-63BCC5EC7577}" type="sibTrans" cxnId="{22E09AF4-5F31-47B2-A1B9-43EFA345AEE7}">
      <dgm:prSet/>
      <dgm:spPr/>
      <dgm:t>
        <a:bodyPr/>
        <a:lstStyle/>
        <a:p>
          <a:endParaRPr lang="en-GB"/>
        </a:p>
      </dgm:t>
    </dgm:pt>
    <dgm:pt modelId="{C9D6D584-EFD4-4BA2-BA5F-BC8B963F9ECC}">
      <dgm:prSet/>
      <dgm:spPr/>
      <dgm:t>
        <a:bodyPr/>
        <a:lstStyle/>
        <a:p>
          <a:r>
            <a:rPr lang="en-GB" dirty="0">
              <a:sym typeface="Wingdings" panose="05000000000000000000" pitchFamily="2" charset="2"/>
            </a:rPr>
            <a:t>Real-world use cases (MT, QA with RAG)</a:t>
          </a:r>
        </a:p>
      </dgm:t>
    </dgm:pt>
    <dgm:pt modelId="{B77F785C-1854-42DB-8899-27C5373601CC}" type="parTrans" cxnId="{1BB8ECBF-40E4-4C66-AA8D-7F380175D8AF}">
      <dgm:prSet/>
      <dgm:spPr/>
      <dgm:t>
        <a:bodyPr/>
        <a:lstStyle/>
        <a:p>
          <a:endParaRPr lang="en-GB"/>
        </a:p>
      </dgm:t>
    </dgm:pt>
    <dgm:pt modelId="{C4D99112-29C9-47F9-ADCA-E08436D47BF4}" type="sibTrans" cxnId="{1BB8ECBF-40E4-4C66-AA8D-7F380175D8AF}">
      <dgm:prSet/>
      <dgm:spPr/>
      <dgm:t>
        <a:bodyPr/>
        <a:lstStyle/>
        <a:p>
          <a:endParaRPr lang="en-GB"/>
        </a:p>
      </dgm:t>
    </dgm:pt>
    <dgm:pt modelId="{6F6D1AD8-3760-42BD-BA43-D490240C4C54}">
      <dgm:prSet/>
      <dgm:spPr/>
      <dgm:t>
        <a:bodyPr/>
        <a:lstStyle/>
        <a:p>
          <a:r>
            <a:rPr lang="en-GB" b="1" dirty="0">
              <a:sym typeface="Wingdings" panose="05000000000000000000" pitchFamily="2" charset="2"/>
            </a:rPr>
            <a:t>Lab 2</a:t>
          </a:r>
          <a:endParaRPr lang="en-GB" b="0" dirty="0">
            <a:sym typeface="Wingdings" panose="05000000000000000000" pitchFamily="2" charset="2"/>
          </a:endParaRPr>
        </a:p>
      </dgm:t>
    </dgm:pt>
    <dgm:pt modelId="{5E050F09-A4D2-461A-84D3-8A8458F9EF1C}" type="parTrans" cxnId="{5130D76F-59B7-4FC7-A0C1-E6A118584FFD}">
      <dgm:prSet/>
      <dgm:spPr/>
      <dgm:t>
        <a:bodyPr/>
        <a:lstStyle/>
        <a:p>
          <a:endParaRPr lang="en-GB"/>
        </a:p>
      </dgm:t>
    </dgm:pt>
    <dgm:pt modelId="{A96AAA6C-C1DA-416C-9D10-022A50C77F07}" type="sibTrans" cxnId="{5130D76F-59B7-4FC7-A0C1-E6A118584FFD}">
      <dgm:prSet/>
      <dgm:spPr/>
      <dgm:t>
        <a:bodyPr/>
        <a:lstStyle/>
        <a:p>
          <a:endParaRPr lang="en-GB"/>
        </a:p>
      </dgm:t>
    </dgm:pt>
    <dgm:pt modelId="{BF961A8E-94C3-44F1-8116-36F072CDB63A}">
      <dgm:prSet/>
      <dgm:spPr/>
      <dgm:t>
        <a:bodyPr/>
        <a:lstStyle/>
        <a:p>
          <a:r>
            <a:rPr lang="en-GB" b="1" dirty="0">
              <a:sym typeface="Wingdings" panose="05000000000000000000" pitchFamily="2" charset="2"/>
            </a:rPr>
            <a:t>Lab 3</a:t>
          </a:r>
          <a:endParaRPr lang="en-GB" dirty="0">
            <a:sym typeface="Wingdings" panose="05000000000000000000" pitchFamily="2" charset="2"/>
          </a:endParaRPr>
        </a:p>
      </dgm:t>
    </dgm:pt>
    <dgm:pt modelId="{82F6733A-01A9-41C9-A7A4-C6F481D3E41F}" type="parTrans" cxnId="{D2E17B25-F339-4537-A910-CFB5A660B0FA}">
      <dgm:prSet/>
      <dgm:spPr/>
      <dgm:t>
        <a:bodyPr/>
        <a:lstStyle/>
        <a:p>
          <a:endParaRPr lang="en-GB"/>
        </a:p>
      </dgm:t>
    </dgm:pt>
    <dgm:pt modelId="{62E63264-2F60-451B-894D-11209674F11E}" type="sibTrans" cxnId="{D2E17B25-F339-4537-A910-CFB5A660B0FA}">
      <dgm:prSet/>
      <dgm:spPr/>
      <dgm:t>
        <a:bodyPr/>
        <a:lstStyle/>
        <a:p>
          <a:endParaRPr lang="en-GB"/>
        </a:p>
      </dgm:t>
    </dgm:pt>
    <dgm:pt modelId="{4FD09829-EAF9-4305-B976-205229E2AFEB}">
      <dgm:prSet/>
      <dgm:spPr/>
      <dgm:t>
        <a:bodyPr/>
        <a:lstStyle/>
        <a:p>
          <a:r>
            <a:rPr lang="en-GB" b="1" dirty="0">
              <a:sym typeface="Wingdings" panose="05000000000000000000" pitchFamily="2" charset="2"/>
            </a:rPr>
            <a:t>Lab 4</a:t>
          </a:r>
          <a:endParaRPr lang="en-GB" dirty="0">
            <a:sym typeface="Wingdings" panose="05000000000000000000" pitchFamily="2" charset="2"/>
          </a:endParaRPr>
        </a:p>
      </dgm:t>
    </dgm:pt>
    <dgm:pt modelId="{E04D111A-77A8-4ABC-A7FA-508D07A096EB}" type="parTrans" cxnId="{270A8E2B-FC88-4B5E-8ED7-CFF53046C77F}">
      <dgm:prSet/>
      <dgm:spPr/>
      <dgm:t>
        <a:bodyPr/>
        <a:lstStyle/>
        <a:p>
          <a:endParaRPr lang="en-GB"/>
        </a:p>
      </dgm:t>
    </dgm:pt>
    <dgm:pt modelId="{F59E4B2D-04AC-4BD1-9FB1-AA74B0D4E1A2}" type="sibTrans" cxnId="{270A8E2B-FC88-4B5E-8ED7-CFF53046C77F}">
      <dgm:prSet/>
      <dgm:spPr/>
      <dgm:t>
        <a:bodyPr/>
        <a:lstStyle/>
        <a:p>
          <a:endParaRPr lang="en-GB"/>
        </a:p>
      </dgm:t>
    </dgm:pt>
    <dgm:pt modelId="{CC9BF835-312C-4B42-9CAB-98E06C29111F}">
      <dgm:prSet/>
      <dgm:spPr/>
      <dgm:t>
        <a:bodyPr/>
        <a:lstStyle/>
        <a:p>
          <a:r>
            <a:rPr lang="en-GB" dirty="0">
              <a:sym typeface="Wingdings" panose="05000000000000000000" pitchFamily="2" charset="2"/>
            </a:rPr>
            <a:t>Extract latent features from LLM embeddings by training a classification model</a:t>
          </a:r>
        </a:p>
      </dgm:t>
    </dgm:pt>
    <dgm:pt modelId="{2C96A3C5-9D6B-4F13-A726-F2C676C8EFDC}" type="parTrans" cxnId="{F33F1AE0-A890-4C8F-99E0-ADB27DECF7F1}">
      <dgm:prSet/>
      <dgm:spPr/>
      <dgm:t>
        <a:bodyPr/>
        <a:lstStyle/>
        <a:p>
          <a:endParaRPr lang="en-GB"/>
        </a:p>
      </dgm:t>
    </dgm:pt>
    <dgm:pt modelId="{1224BA17-F6B0-461D-ACD8-55569CC65FF8}" type="sibTrans" cxnId="{F33F1AE0-A890-4C8F-99E0-ADB27DECF7F1}">
      <dgm:prSet/>
      <dgm:spPr/>
      <dgm:t>
        <a:bodyPr/>
        <a:lstStyle/>
        <a:p>
          <a:endParaRPr lang="en-GB"/>
        </a:p>
      </dgm:t>
    </dgm:pt>
    <dgm:pt modelId="{DC77F906-A95D-49FE-803A-C75EBF167482}">
      <dgm:prSet/>
      <dgm:spPr/>
      <dgm:t>
        <a:bodyPr/>
        <a:lstStyle/>
        <a:p>
          <a:r>
            <a:rPr lang="en-GB" dirty="0">
              <a:sym typeface="Wingdings" panose="05000000000000000000" pitchFamily="2" charset="2"/>
            </a:rPr>
            <a:t>Generate video captions using:</a:t>
          </a:r>
        </a:p>
      </dgm:t>
    </dgm:pt>
    <dgm:pt modelId="{E9E8FD34-0A04-4B66-B869-2DBB8785700D}" type="parTrans" cxnId="{4EDE3EB5-AFE8-4F63-BF08-51F94AD391A9}">
      <dgm:prSet/>
      <dgm:spPr/>
      <dgm:t>
        <a:bodyPr/>
        <a:lstStyle/>
        <a:p>
          <a:endParaRPr lang="en-GB"/>
        </a:p>
      </dgm:t>
    </dgm:pt>
    <dgm:pt modelId="{762132B3-2A1B-443C-B8DD-511463AB6D13}" type="sibTrans" cxnId="{4EDE3EB5-AFE8-4F63-BF08-51F94AD391A9}">
      <dgm:prSet/>
      <dgm:spPr/>
      <dgm:t>
        <a:bodyPr/>
        <a:lstStyle/>
        <a:p>
          <a:endParaRPr lang="en-GB"/>
        </a:p>
      </dgm:t>
    </dgm:pt>
    <dgm:pt modelId="{1B3DFF26-0C22-4786-8B7F-F52B28775128}">
      <dgm:prSet/>
      <dgm:spPr/>
      <dgm:t>
        <a:bodyPr/>
        <a:lstStyle/>
        <a:p>
          <a:pPr>
            <a:buFont typeface="+mj-lt"/>
            <a:buAutoNum type="alphaLcParenR"/>
          </a:pPr>
          <a:r>
            <a:rPr lang="en-GB" dirty="0">
              <a:sym typeface="Wingdings" panose="05000000000000000000" pitchFamily="2" charset="2"/>
            </a:rPr>
            <a:t> CLIP-inspired models </a:t>
          </a:r>
          <a:r>
            <a:rPr lang="en-GB" b="0" dirty="0">
              <a:sym typeface="Wingdings" panose="05000000000000000000" pitchFamily="2" charset="2"/>
            </a:rPr>
            <a:t>(</a:t>
          </a:r>
          <a:r>
            <a:rPr lang="en-GB" b="1" dirty="0">
              <a:sym typeface="Wingdings" panose="05000000000000000000" pitchFamily="2" charset="2"/>
            </a:rPr>
            <a:t>Co</a:t>
          </a:r>
          <a:r>
            <a:rPr lang="en-GB" b="0" i="0" dirty="0"/>
            <a:t>ntrastive </a:t>
          </a:r>
          <a:r>
            <a:rPr lang="en-GB" b="1" i="0" u="none" dirty="0"/>
            <a:t>Ca</a:t>
          </a:r>
          <a:r>
            <a:rPr lang="en-GB" b="0" i="0" dirty="0"/>
            <a:t>ptioners)</a:t>
          </a:r>
          <a:endParaRPr lang="en-GB" dirty="0">
            <a:sym typeface="Wingdings" panose="05000000000000000000" pitchFamily="2" charset="2"/>
          </a:endParaRPr>
        </a:p>
      </dgm:t>
    </dgm:pt>
    <dgm:pt modelId="{3685AAA5-D119-42BB-8E8B-F3B75C4F7D8E}" type="parTrans" cxnId="{3ED3A3CA-CB7B-4AEB-8956-590DB71ABBCE}">
      <dgm:prSet/>
      <dgm:spPr/>
      <dgm:t>
        <a:bodyPr/>
        <a:lstStyle/>
        <a:p>
          <a:endParaRPr lang="en-GB"/>
        </a:p>
      </dgm:t>
    </dgm:pt>
    <dgm:pt modelId="{C653B06E-9B93-471A-ACD0-42EB318427ED}" type="sibTrans" cxnId="{3ED3A3CA-CB7B-4AEB-8956-590DB71ABBCE}">
      <dgm:prSet/>
      <dgm:spPr/>
      <dgm:t>
        <a:bodyPr/>
        <a:lstStyle/>
        <a:p>
          <a:endParaRPr lang="en-GB"/>
        </a:p>
      </dgm:t>
    </dgm:pt>
    <dgm:pt modelId="{BD56097E-4F68-499F-96C4-48E28006D21D}">
      <dgm:prSet/>
      <dgm:spPr/>
      <dgm:t>
        <a:bodyPr/>
        <a:lstStyle/>
        <a:p>
          <a:pPr>
            <a:buFont typeface="+mj-lt"/>
            <a:buAutoNum type="alphaLcParenR"/>
          </a:pPr>
          <a:r>
            <a:rPr lang="en-GB" b="0" i="0" dirty="0"/>
            <a:t> Vision-Language Models (</a:t>
          </a:r>
          <a:r>
            <a:rPr lang="en-GB" b="1" dirty="0">
              <a:sym typeface="Wingdings" panose="05000000000000000000" pitchFamily="2" charset="2"/>
            </a:rPr>
            <a:t>VLMs</a:t>
          </a:r>
          <a:r>
            <a:rPr lang="en-GB" dirty="0">
              <a:sym typeface="Wingdings" panose="05000000000000000000" pitchFamily="2" charset="2"/>
            </a:rPr>
            <a:t>)</a:t>
          </a:r>
        </a:p>
      </dgm:t>
    </dgm:pt>
    <dgm:pt modelId="{38EAD2D0-D685-4CF9-B772-BC392F486F0C}" type="parTrans" cxnId="{2D47B57B-A0B7-42B4-A7C5-F0C8D0B08760}">
      <dgm:prSet/>
      <dgm:spPr/>
      <dgm:t>
        <a:bodyPr/>
        <a:lstStyle/>
        <a:p>
          <a:endParaRPr lang="en-GB"/>
        </a:p>
      </dgm:t>
    </dgm:pt>
    <dgm:pt modelId="{2D3473B5-E576-415C-96FA-2E47B21B9885}" type="sibTrans" cxnId="{2D47B57B-A0B7-42B4-A7C5-F0C8D0B08760}">
      <dgm:prSet/>
      <dgm:spPr/>
      <dgm:t>
        <a:bodyPr/>
        <a:lstStyle/>
        <a:p>
          <a:endParaRPr lang="en-GB"/>
        </a:p>
      </dgm:t>
    </dgm:pt>
    <dgm:pt modelId="{1E4747B3-B77A-4BA9-B05F-D6EA1112888F}">
      <dgm:prSet/>
      <dgm:spPr/>
      <dgm:t>
        <a:bodyPr/>
        <a:lstStyle/>
        <a:p>
          <a:r>
            <a:rPr lang="en-GB" dirty="0">
              <a:sym typeface="Wingdings" panose="05000000000000000000" pitchFamily="2" charset="2"/>
            </a:rPr>
            <a:t>Agents using </a:t>
          </a:r>
          <a:r>
            <a:rPr lang="en-GB" i="1" dirty="0" err="1">
              <a:sym typeface="Wingdings" panose="05000000000000000000" pitchFamily="2" charset="2"/>
            </a:rPr>
            <a:t>LangChain</a:t>
          </a:r>
          <a:endParaRPr lang="en-GB" i="1" dirty="0">
            <a:sym typeface="Wingdings" panose="05000000000000000000" pitchFamily="2" charset="2"/>
          </a:endParaRPr>
        </a:p>
      </dgm:t>
    </dgm:pt>
    <dgm:pt modelId="{4FE5EEA2-ACA0-43E0-8A09-D1AAF1B3BC38}" type="parTrans" cxnId="{BE05EDC8-C7F7-4E55-B52F-4D9DB143E19B}">
      <dgm:prSet/>
      <dgm:spPr/>
      <dgm:t>
        <a:bodyPr/>
        <a:lstStyle/>
        <a:p>
          <a:endParaRPr lang="en-GB"/>
        </a:p>
      </dgm:t>
    </dgm:pt>
    <dgm:pt modelId="{429770D5-031C-4D7F-BEE7-A5C4C462777F}" type="sibTrans" cxnId="{BE05EDC8-C7F7-4E55-B52F-4D9DB143E19B}">
      <dgm:prSet/>
      <dgm:spPr/>
      <dgm:t>
        <a:bodyPr/>
        <a:lstStyle/>
        <a:p>
          <a:endParaRPr lang="en-GB"/>
        </a:p>
      </dgm:t>
    </dgm:pt>
    <dgm:pt modelId="{EE249007-5FDA-48F2-8570-46B855298B4B}" type="pres">
      <dgm:prSet presAssocID="{3BEC8005-01E2-4B39-A2BE-C825DB04EC0F}" presName="Name0" presStyleCnt="0">
        <dgm:presLayoutVars>
          <dgm:dir/>
          <dgm:animLvl val="lvl"/>
          <dgm:resizeHandles val="exact"/>
        </dgm:presLayoutVars>
      </dgm:prSet>
      <dgm:spPr/>
    </dgm:pt>
    <dgm:pt modelId="{0D4E9901-A437-49A6-8024-729C8EB31B03}" type="pres">
      <dgm:prSet presAssocID="{A241C06F-6779-4FF3-9B9B-2173B3CC33AB}" presName="linNode" presStyleCnt="0"/>
      <dgm:spPr/>
    </dgm:pt>
    <dgm:pt modelId="{D2D95DBE-29CF-4946-89A9-505D28192EAD}" type="pres">
      <dgm:prSet presAssocID="{A241C06F-6779-4FF3-9B9B-2173B3CC33AB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C703C51F-A0AA-4FDD-BCE8-EB48429F9425}" type="pres">
      <dgm:prSet presAssocID="{A241C06F-6779-4FF3-9B9B-2173B3CC33AB}" presName="descendantText" presStyleLbl="alignAccFollowNode1" presStyleIdx="0" presStyleCnt="4">
        <dgm:presLayoutVars>
          <dgm:bulletEnabled val="1"/>
        </dgm:presLayoutVars>
      </dgm:prSet>
      <dgm:spPr/>
    </dgm:pt>
    <dgm:pt modelId="{486BC1E0-EA68-419B-AB80-A9373E8C6D9C}" type="pres">
      <dgm:prSet presAssocID="{112C531A-6C9C-4516-A5AE-43CD30579FFC}" presName="sp" presStyleCnt="0"/>
      <dgm:spPr/>
    </dgm:pt>
    <dgm:pt modelId="{33ADD192-645A-4754-8C89-CC457237F970}" type="pres">
      <dgm:prSet presAssocID="{6F6D1AD8-3760-42BD-BA43-D490240C4C54}" presName="linNode" presStyleCnt="0"/>
      <dgm:spPr/>
    </dgm:pt>
    <dgm:pt modelId="{930D32B7-497C-49CE-9A7A-D9C21BD5A0CA}" type="pres">
      <dgm:prSet presAssocID="{6F6D1AD8-3760-42BD-BA43-D490240C4C54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6A911036-7D2C-451D-B2DB-6F0BF0898267}" type="pres">
      <dgm:prSet presAssocID="{6F6D1AD8-3760-42BD-BA43-D490240C4C54}" presName="descendantText" presStyleLbl="alignAccFollowNode1" presStyleIdx="1" presStyleCnt="4">
        <dgm:presLayoutVars>
          <dgm:bulletEnabled val="1"/>
        </dgm:presLayoutVars>
      </dgm:prSet>
      <dgm:spPr/>
    </dgm:pt>
    <dgm:pt modelId="{24E8D70C-B926-4839-A4AD-F5D83F8660BC}" type="pres">
      <dgm:prSet presAssocID="{A96AAA6C-C1DA-416C-9D10-022A50C77F07}" presName="sp" presStyleCnt="0"/>
      <dgm:spPr/>
    </dgm:pt>
    <dgm:pt modelId="{E391C399-9D03-4352-974D-2BE6D285312E}" type="pres">
      <dgm:prSet presAssocID="{BF961A8E-94C3-44F1-8116-36F072CDB63A}" presName="linNode" presStyleCnt="0"/>
      <dgm:spPr/>
    </dgm:pt>
    <dgm:pt modelId="{0BF88898-2EBC-4BA2-AD7B-929448E6CACB}" type="pres">
      <dgm:prSet presAssocID="{BF961A8E-94C3-44F1-8116-36F072CDB63A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C117354A-7087-430D-954A-AD768EC743FE}" type="pres">
      <dgm:prSet presAssocID="{BF961A8E-94C3-44F1-8116-36F072CDB63A}" presName="descendantText" presStyleLbl="alignAccFollowNode1" presStyleIdx="2" presStyleCnt="4">
        <dgm:presLayoutVars>
          <dgm:bulletEnabled val="1"/>
        </dgm:presLayoutVars>
      </dgm:prSet>
      <dgm:spPr/>
    </dgm:pt>
    <dgm:pt modelId="{CDBFE90A-A2DD-4496-8638-0DD789AD0E03}" type="pres">
      <dgm:prSet presAssocID="{62E63264-2F60-451B-894D-11209674F11E}" presName="sp" presStyleCnt="0"/>
      <dgm:spPr/>
    </dgm:pt>
    <dgm:pt modelId="{594C530B-3D67-496B-8F75-2EBB6A9B0690}" type="pres">
      <dgm:prSet presAssocID="{4FD09829-EAF9-4305-B976-205229E2AFEB}" presName="linNode" presStyleCnt="0"/>
      <dgm:spPr/>
    </dgm:pt>
    <dgm:pt modelId="{C2ABA2AD-10D3-4A22-A97E-DF4E4CC5E200}" type="pres">
      <dgm:prSet presAssocID="{4FD09829-EAF9-4305-B976-205229E2AFEB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1CE57D84-950D-4B08-A19A-F8C337F519E7}" type="pres">
      <dgm:prSet presAssocID="{4FD09829-EAF9-4305-B976-205229E2AFEB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18C4CD00-AA2F-4FC0-A052-D13C6594C96A}" type="presOf" srcId="{4FD09829-EAF9-4305-B976-205229E2AFEB}" destId="{C2ABA2AD-10D3-4A22-A97E-DF4E4CC5E200}" srcOrd="0" destOrd="0" presId="urn:microsoft.com/office/officeart/2005/8/layout/vList5"/>
    <dgm:cxn modelId="{17368A1C-9E04-4B6B-9007-A57D5F607753}" type="presOf" srcId="{3BEC8005-01E2-4B39-A2BE-C825DB04EC0F}" destId="{EE249007-5FDA-48F2-8570-46B855298B4B}" srcOrd="0" destOrd="0" presId="urn:microsoft.com/office/officeart/2005/8/layout/vList5"/>
    <dgm:cxn modelId="{D2E17B25-F339-4537-A910-CFB5A660B0FA}" srcId="{3BEC8005-01E2-4B39-A2BE-C825DB04EC0F}" destId="{BF961A8E-94C3-44F1-8116-36F072CDB63A}" srcOrd="2" destOrd="0" parTransId="{82F6733A-01A9-41C9-A7A4-C6F481D3E41F}" sibTransId="{62E63264-2F60-451B-894D-11209674F11E}"/>
    <dgm:cxn modelId="{270A8E2B-FC88-4B5E-8ED7-CFF53046C77F}" srcId="{3BEC8005-01E2-4B39-A2BE-C825DB04EC0F}" destId="{4FD09829-EAF9-4305-B976-205229E2AFEB}" srcOrd="3" destOrd="0" parTransId="{E04D111A-77A8-4ABC-A7FA-508D07A096EB}" sibTransId="{F59E4B2D-04AC-4BD1-9FB1-AA74B0D4E1A2}"/>
    <dgm:cxn modelId="{E9E8EA5E-D750-48A7-B896-820B600D52D8}" type="presOf" srcId="{CC9BF835-312C-4B42-9CAB-98E06C29111F}" destId="{6A911036-7D2C-451D-B2DB-6F0BF0898267}" srcOrd="0" destOrd="0" presId="urn:microsoft.com/office/officeart/2005/8/layout/vList5"/>
    <dgm:cxn modelId="{0359FA61-8D2E-4F61-B93C-0B61E723BB40}" type="presOf" srcId="{A241C06F-6779-4FF3-9B9B-2173B3CC33AB}" destId="{D2D95DBE-29CF-4946-89A9-505D28192EAD}" srcOrd="0" destOrd="0" presId="urn:microsoft.com/office/officeart/2005/8/layout/vList5"/>
    <dgm:cxn modelId="{5130D76F-59B7-4FC7-A0C1-E6A118584FFD}" srcId="{3BEC8005-01E2-4B39-A2BE-C825DB04EC0F}" destId="{6F6D1AD8-3760-42BD-BA43-D490240C4C54}" srcOrd="1" destOrd="0" parTransId="{5E050F09-A4D2-461A-84D3-8A8458F9EF1C}" sibTransId="{A96AAA6C-C1DA-416C-9D10-022A50C77F07}"/>
    <dgm:cxn modelId="{2D47B57B-A0B7-42B4-A7C5-F0C8D0B08760}" srcId="{DC77F906-A95D-49FE-803A-C75EBF167482}" destId="{BD56097E-4F68-499F-96C4-48E28006D21D}" srcOrd="1" destOrd="0" parTransId="{38EAD2D0-D685-4CF9-B772-BC392F486F0C}" sibTransId="{2D3473B5-E576-415C-96FA-2E47B21B9885}"/>
    <dgm:cxn modelId="{6644B381-C8D6-45A5-BD30-700BDB4B7851}" type="presOf" srcId="{C9D6D584-EFD4-4BA2-BA5F-BC8B963F9ECC}" destId="{C703C51F-A0AA-4FDD-BCE8-EB48429F9425}" srcOrd="0" destOrd="1" presId="urn:microsoft.com/office/officeart/2005/8/layout/vList5"/>
    <dgm:cxn modelId="{0F38179F-779B-48D9-BBDE-D99A2D1DD9FC}" type="presOf" srcId="{4484ADCE-692F-48F3-9A66-BF5BC34F1694}" destId="{C703C51F-A0AA-4FDD-BCE8-EB48429F9425}" srcOrd="0" destOrd="0" presId="urn:microsoft.com/office/officeart/2005/8/layout/vList5"/>
    <dgm:cxn modelId="{2B9B639F-F8F8-401C-86DC-D7D246502451}" type="presOf" srcId="{BD56097E-4F68-499F-96C4-48E28006D21D}" destId="{C117354A-7087-430D-954A-AD768EC743FE}" srcOrd="0" destOrd="2" presId="urn:microsoft.com/office/officeart/2005/8/layout/vList5"/>
    <dgm:cxn modelId="{700B52AF-34E1-46E6-B9A9-3DB4738A97A6}" type="presOf" srcId="{1B3DFF26-0C22-4786-8B7F-F52B28775128}" destId="{C117354A-7087-430D-954A-AD768EC743FE}" srcOrd="0" destOrd="1" presId="urn:microsoft.com/office/officeart/2005/8/layout/vList5"/>
    <dgm:cxn modelId="{4EDE3EB5-AFE8-4F63-BF08-51F94AD391A9}" srcId="{BF961A8E-94C3-44F1-8116-36F072CDB63A}" destId="{DC77F906-A95D-49FE-803A-C75EBF167482}" srcOrd="0" destOrd="0" parTransId="{E9E8FD34-0A04-4B66-B869-2DBB8785700D}" sibTransId="{762132B3-2A1B-443C-B8DD-511463AB6D13}"/>
    <dgm:cxn modelId="{726D3BB8-1991-4549-9E89-A7007CF55593}" type="presOf" srcId="{1E4747B3-B77A-4BA9-B05F-D6EA1112888F}" destId="{1CE57D84-950D-4B08-A19A-F8C337F519E7}" srcOrd="0" destOrd="0" presId="urn:microsoft.com/office/officeart/2005/8/layout/vList5"/>
    <dgm:cxn modelId="{5AF7F7BB-E8FF-46A4-86BC-5C645A390AA2}" type="presOf" srcId="{BF961A8E-94C3-44F1-8116-36F072CDB63A}" destId="{0BF88898-2EBC-4BA2-AD7B-929448E6CACB}" srcOrd="0" destOrd="0" presId="urn:microsoft.com/office/officeart/2005/8/layout/vList5"/>
    <dgm:cxn modelId="{1BB8ECBF-40E4-4C66-AA8D-7F380175D8AF}" srcId="{A241C06F-6779-4FF3-9B9B-2173B3CC33AB}" destId="{C9D6D584-EFD4-4BA2-BA5F-BC8B963F9ECC}" srcOrd="1" destOrd="0" parTransId="{B77F785C-1854-42DB-8899-27C5373601CC}" sibTransId="{C4D99112-29C9-47F9-ADCA-E08436D47BF4}"/>
    <dgm:cxn modelId="{BE05EDC8-C7F7-4E55-B52F-4D9DB143E19B}" srcId="{4FD09829-EAF9-4305-B976-205229E2AFEB}" destId="{1E4747B3-B77A-4BA9-B05F-D6EA1112888F}" srcOrd="0" destOrd="0" parTransId="{4FE5EEA2-ACA0-43E0-8A09-D1AAF1B3BC38}" sibTransId="{429770D5-031C-4D7F-BEE7-A5C4C462777F}"/>
    <dgm:cxn modelId="{3ED3A3CA-CB7B-4AEB-8956-590DB71ABBCE}" srcId="{DC77F906-A95D-49FE-803A-C75EBF167482}" destId="{1B3DFF26-0C22-4786-8B7F-F52B28775128}" srcOrd="0" destOrd="0" parTransId="{3685AAA5-D119-42BB-8E8B-F3B75C4F7D8E}" sibTransId="{C653B06E-9B93-471A-ACD0-42EB318427ED}"/>
    <dgm:cxn modelId="{F23936D2-9D46-4621-9378-E081C8CDB2B8}" type="presOf" srcId="{DC77F906-A95D-49FE-803A-C75EBF167482}" destId="{C117354A-7087-430D-954A-AD768EC743FE}" srcOrd="0" destOrd="0" presId="urn:microsoft.com/office/officeart/2005/8/layout/vList5"/>
    <dgm:cxn modelId="{F33F1AE0-A890-4C8F-99E0-ADB27DECF7F1}" srcId="{6F6D1AD8-3760-42BD-BA43-D490240C4C54}" destId="{CC9BF835-312C-4B42-9CAB-98E06C29111F}" srcOrd="0" destOrd="0" parTransId="{2C96A3C5-9D6B-4F13-A726-F2C676C8EFDC}" sibTransId="{1224BA17-F6B0-461D-ACD8-55569CC65FF8}"/>
    <dgm:cxn modelId="{588BE7E4-DA2E-4B42-9EB4-26E0AC0494B7}" srcId="{3BEC8005-01E2-4B39-A2BE-C825DB04EC0F}" destId="{A241C06F-6779-4FF3-9B9B-2173B3CC33AB}" srcOrd="0" destOrd="0" parTransId="{1F72EB91-BAD9-4C7C-90BE-86129D52850C}" sibTransId="{112C531A-6C9C-4516-A5AE-43CD30579FFC}"/>
    <dgm:cxn modelId="{956D4BF0-C6E3-4CF6-B7E6-28E4F06CC832}" type="presOf" srcId="{6F6D1AD8-3760-42BD-BA43-D490240C4C54}" destId="{930D32B7-497C-49CE-9A7A-D9C21BD5A0CA}" srcOrd="0" destOrd="0" presId="urn:microsoft.com/office/officeart/2005/8/layout/vList5"/>
    <dgm:cxn modelId="{22E09AF4-5F31-47B2-A1B9-43EFA345AEE7}" srcId="{A241C06F-6779-4FF3-9B9B-2173B3CC33AB}" destId="{4484ADCE-692F-48F3-9A66-BF5BC34F1694}" srcOrd="0" destOrd="0" parTransId="{12606303-4B77-4E6C-A8B2-918B851A941F}" sibTransId="{1F6E3BEA-6433-4960-BE2B-63BCC5EC7577}"/>
    <dgm:cxn modelId="{21346A37-2E95-4766-8299-60B931CC98D6}" type="presParOf" srcId="{EE249007-5FDA-48F2-8570-46B855298B4B}" destId="{0D4E9901-A437-49A6-8024-729C8EB31B03}" srcOrd="0" destOrd="0" presId="urn:microsoft.com/office/officeart/2005/8/layout/vList5"/>
    <dgm:cxn modelId="{7512B22E-DD93-4C61-A35E-523D7E9B0D8C}" type="presParOf" srcId="{0D4E9901-A437-49A6-8024-729C8EB31B03}" destId="{D2D95DBE-29CF-4946-89A9-505D28192EAD}" srcOrd="0" destOrd="0" presId="urn:microsoft.com/office/officeart/2005/8/layout/vList5"/>
    <dgm:cxn modelId="{E64C7FD1-A0A5-4858-9831-563259C2723C}" type="presParOf" srcId="{0D4E9901-A437-49A6-8024-729C8EB31B03}" destId="{C703C51F-A0AA-4FDD-BCE8-EB48429F9425}" srcOrd="1" destOrd="0" presId="urn:microsoft.com/office/officeart/2005/8/layout/vList5"/>
    <dgm:cxn modelId="{3FDD37BD-33CF-4487-9A43-4A866DA4F799}" type="presParOf" srcId="{EE249007-5FDA-48F2-8570-46B855298B4B}" destId="{486BC1E0-EA68-419B-AB80-A9373E8C6D9C}" srcOrd="1" destOrd="0" presId="urn:microsoft.com/office/officeart/2005/8/layout/vList5"/>
    <dgm:cxn modelId="{6FD2F7E1-DB2E-410D-9874-62EB5E95DD09}" type="presParOf" srcId="{EE249007-5FDA-48F2-8570-46B855298B4B}" destId="{33ADD192-645A-4754-8C89-CC457237F970}" srcOrd="2" destOrd="0" presId="urn:microsoft.com/office/officeart/2005/8/layout/vList5"/>
    <dgm:cxn modelId="{1C8089D7-D7B3-4604-BF03-008B6D92FCF4}" type="presParOf" srcId="{33ADD192-645A-4754-8C89-CC457237F970}" destId="{930D32B7-497C-49CE-9A7A-D9C21BD5A0CA}" srcOrd="0" destOrd="0" presId="urn:microsoft.com/office/officeart/2005/8/layout/vList5"/>
    <dgm:cxn modelId="{07B1F2FD-51C4-419D-887F-1B293FA3A594}" type="presParOf" srcId="{33ADD192-645A-4754-8C89-CC457237F970}" destId="{6A911036-7D2C-451D-B2DB-6F0BF0898267}" srcOrd="1" destOrd="0" presId="urn:microsoft.com/office/officeart/2005/8/layout/vList5"/>
    <dgm:cxn modelId="{65BBCA59-F557-4EF6-BD5A-8A54D08B1296}" type="presParOf" srcId="{EE249007-5FDA-48F2-8570-46B855298B4B}" destId="{24E8D70C-B926-4839-A4AD-F5D83F8660BC}" srcOrd="3" destOrd="0" presId="urn:microsoft.com/office/officeart/2005/8/layout/vList5"/>
    <dgm:cxn modelId="{3EC7EA3A-A3B9-4CA1-8B59-33050CDC5448}" type="presParOf" srcId="{EE249007-5FDA-48F2-8570-46B855298B4B}" destId="{E391C399-9D03-4352-974D-2BE6D285312E}" srcOrd="4" destOrd="0" presId="urn:microsoft.com/office/officeart/2005/8/layout/vList5"/>
    <dgm:cxn modelId="{5D9D4B8B-5845-4F33-B0D1-446EFF1AC81F}" type="presParOf" srcId="{E391C399-9D03-4352-974D-2BE6D285312E}" destId="{0BF88898-2EBC-4BA2-AD7B-929448E6CACB}" srcOrd="0" destOrd="0" presId="urn:microsoft.com/office/officeart/2005/8/layout/vList5"/>
    <dgm:cxn modelId="{DAA12B60-8DB8-4994-9E0A-495F627531FB}" type="presParOf" srcId="{E391C399-9D03-4352-974D-2BE6D285312E}" destId="{C117354A-7087-430D-954A-AD768EC743FE}" srcOrd="1" destOrd="0" presId="urn:microsoft.com/office/officeart/2005/8/layout/vList5"/>
    <dgm:cxn modelId="{F5F2A723-DE16-46D7-9E39-66E248E8FDDC}" type="presParOf" srcId="{EE249007-5FDA-48F2-8570-46B855298B4B}" destId="{CDBFE90A-A2DD-4496-8638-0DD789AD0E03}" srcOrd="5" destOrd="0" presId="urn:microsoft.com/office/officeart/2005/8/layout/vList5"/>
    <dgm:cxn modelId="{459B7AD1-670E-4768-B638-A9688F7B3066}" type="presParOf" srcId="{EE249007-5FDA-48F2-8570-46B855298B4B}" destId="{594C530B-3D67-496B-8F75-2EBB6A9B0690}" srcOrd="6" destOrd="0" presId="urn:microsoft.com/office/officeart/2005/8/layout/vList5"/>
    <dgm:cxn modelId="{E0A2E581-20F4-48AC-B533-6ABFA22FFFFD}" type="presParOf" srcId="{594C530B-3D67-496B-8F75-2EBB6A9B0690}" destId="{C2ABA2AD-10D3-4A22-A97E-DF4E4CC5E200}" srcOrd="0" destOrd="0" presId="urn:microsoft.com/office/officeart/2005/8/layout/vList5"/>
    <dgm:cxn modelId="{89347CA5-4299-4AEB-832E-AF50BCE8475C}" type="presParOf" srcId="{594C530B-3D67-496B-8F75-2EBB6A9B0690}" destId="{1CE57D84-950D-4B08-A19A-F8C337F519E7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D83153F-4D49-4ED2-95FF-B2C5604E12A0}" type="doc">
      <dgm:prSet loTypeId="urn:microsoft.com/office/officeart/2005/8/layout/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FDFC5B26-D331-4F3E-A0E5-57AE27FD5CE4}">
      <dgm:prSet phldrT="[Text]"/>
      <dgm:spPr/>
      <dgm:t>
        <a:bodyPr/>
        <a:lstStyle/>
        <a:p>
          <a:pPr>
            <a:buNone/>
          </a:pPr>
          <a:r>
            <a:rPr lang="en-GB" b="1"/>
            <a:t>Vision Encoder</a:t>
          </a:r>
          <a:endParaRPr lang="en-GB" dirty="0"/>
        </a:p>
      </dgm:t>
    </dgm:pt>
    <dgm:pt modelId="{3358B53B-E790-4BB1-B6DF-85317BF2FCC8}" type="parTrans" cxnId="{8764DD75-0ABD-4849-8A05-9E97CBEE8871}">
      <dgm:prSet/>
      <dgm:spPr/>
      <dgm:t>
        <a:bodyPr/>
        <a:lstStyle/>
        <a:p>
          <a:endParaRPr lang="en-GB"/>
        </a:p>
      </dgm:t>
    </dgm:pt>
    <dgm:pt modelId="{98C5EF2F-25C1-4AD3-8E46-0D59E2FE6471}" type="sibTrans" cxnId="{8764DD75-0ABD-4849-8A05-9E97CBEE8871}">
      <dgm:prSet/>
      <dgm:spPr/>
      <dgm:t>
        <a:bodyPr/>
        <a:lstStyle/>
        <a:p>
          <a:endParaRPr lang="en-GB"/>
        </a:p>
      </dgm:t>
    </dgm:pt>
    <dgm:pt modelId="{681E7474-2F1F-4E0E-849F-762286E0E3CA}">
      <dgm:prSet/>
      <dgm:spPr/>
      <dgm:t>
        <a:bodyPr/>
        <a:lstStyle/>
        <a:p>
          <a:pPr>
            <a:buNone/>
          </a:pPr>
          <a:r>
            <a:rPr lang="en-GB" b="1" dirty="0"/>
            <a:t>Text Encoder/Decoder:</a:t>
          </a:r>
          <a:endParaRPr lang="en-GB" dirty="0"/>
        </a:p>
      </dgm:t>
    </dgm:pt>
    <dgm:pt modelId="{E74734E5-7429-4130-85E3-9EE8429B7E7D}" type="parTrans" cxnId="{43B48B23-617C-4974-B2CA-217AB248B1F0}">
      <dgm:prSet/>
      <dgm:spPr/>
      <dgm:t>
        <a:bodyPr/>
        <a:lstStyle/>
        <a:p>
          <a:endParaRPr lang="en-GB"/>
        </a:p>
      </dgm:t>
    </dgm:pt>
    <dgm:pt modelId="{4A8A5916-A948-46CB-B27B-01F8EE34E471}" type="sibTrans" cxnId="{43B48B23-617C-4974-B2CA-217AB248B1F0}">
      <dgm:prSet/>
      <dgm:spPr/>
      <dgm:t>
        <a:bodyPr/>
        <a:lstStyle/>
        <a:p>
          <a:endParaRPr lang="en-GB"/>
        </a:p>
      </dgm:t>
    </dgm:pt>
    <dgm:pt modelId="{069A2A5B-E7AD-4658-9537-07A9F21939B3}">
      <dgm:prSet/>
      <dgm:spPr/>
      <dgm:t>
        <a:bodyPr/>
        <a:lstStyle/>
        <a:p>
          <a:pPr>
            <a:buNone/>
          </a:pPr>
          <a:r>
            <a:rPr lang="en-GB" b="1" dirty="0"/>
            <a:t>Training</a:t>
          </a:r>
          <a:endParaRPr lang="en-GB" dirty="0"/>
        </a:p>
      </dgm:t>
    </dgm:pt>
    <dgm:pt modelId="{8D835E82-C971-4790-82CF-9286DC278780}" type="parTrans" cxnId="{B6A6F8DD-0EFB-4862-9AD4-CB8C9FCE8AD1}">
      <dgm:prSet/>
      <dgm:spPr/>
      <dgm:t>
        <a:bodyPr/>
        <a:lstStyle/>
        <a:p>
          <a:endParaRPr lang="en-GB"/>
        </a:p>
      </dgm:t>
    </dgm:pt>
    <dgm:pt modelId="{1A19F5F4-07EB-479E-B6DE-520D401BCE6C}" type="sibTrans" cxnId="{B6A6F8DD-0EFB-4862-9AD4-CB8C9FCE8AD1}">
      <dgm:prSet/>
      <dgm:spPr/>
      <dgm:t>
        <a:bodyPr/>
        <a:lstStyle/>
        <a:p>
          <a:endParaRPr lang="en-GB"/>
        </a:p>
      </dgm:t>
    </dgm:pt>
    <dgm:pt modelId="{870F80B8-F6C4-4338-B6E2-3E624E53DDF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b="1" dirty="0"/>
            <a:t>Contrastive loss</a:t>
          </a:r>
          <a:r>
            <a:rPr lang="en-GB" dirty="0"/>
            <a:t> aligns image and text embeddings (like CLIP).</a:t>
          </a:r>
        </a:p>
      </dgm:t>
    </dgm:pt>
    <dgm:pt modelId="{EFC4BB47-F246-4A17-93EB-902BDDAF69AA}" type="parTrans" cxnId="{E9E6895A-32B3-4B95-A955-F731B687A5FB}">
      <dgm:prSet/>
      <dgm:spPr/>
      <dgm:t>
        <a:bodyPr/>
        <a:lstStyle/>
        <a:p>
          <a:endParaRPr lang="en-GB"/>
        </a:p>
      </dgm:t>
    </dgm:pt>
    <dgm:pt modelId="{9DEDF6A9-F7AC-4C06-9FDC-3BFF2585EB25}" type="sibTrans" cxnId="{E9E6895A-32B3-4B95-A955-F731B687A5FB}">
      <dgm:prSet/>
      <dgm:spPr/>
      <dgm:t>
        <a:bodyPr/>
        <a:lstStyle/>
        <a:p>
          <a:endParaRPr lang="en-GB"/>
        </a:p>
      </dgm:t>
    </dgm:pt>
    <dgm:pt modelId="{0AC88CCB-9612-45D7-911A-D625A2F89CC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b="1" dirty="0"/>
            <a:t>Captioning loss</a:t>
          </a:r>
          <a:r>
            <a:rPr lang="en-GB" dirty="0"/>
            <a:t> (cross-entropy) trains the model to generate descriptive </a:t>
          </a:r>
          <a:r>
            <a:rPr lang="en-GB"/>
            <a:t>text.</a:t>
          </a:r>
          <a:endParaRPr lang="en-GB" dirty="0"/>
        </a:p>
      </dgm:t>
    </dgm:pt>
    <dgm:pt modelId="{79873834-E300-49DB-81DD-2BBE76F6667C}" type="parTrans" cxnId="{C87EF2EE-7490-48B7-B463-F5D5B6656DD7}">
      <dgm:prSet/>
      <dgm:spPr/>
      <dgm:t>
        <a:bodyPr/>
        <a:lstStyle/>
        <a:p>
          <a:endParaRPr lang="en-GB"/>
        </a:p>
      </dgm:t>
    </dgm:pt>
    <dgm:pt modelId="{1F47B7BD-58B4-459C-B8BB-109553223D44}" type="sibTrans" cxnId="{C87EF2EE-7490-48B7-B463-F5D5B6656DD7}">
      <dgm:prSet/>
      <dgm:spPr/>
      <dgm:t>
        <a:bodyPr/>
        <a:lstStyle/>
        <a:p>
          <a:endParaRPr lang="en-GB"/>
        </a:p>
      </dgm:t>
    </dgm:pt>
    <dgm:pt modelId="{C0404112-BF1A-4BF2-A648-6ACF05A3E931}">
      <dgm:prSet/>
      <dgm:spPr/>
      <dgm:t>
        <a:bodyPr/>
        <a:lstStyle/>
        <a:p>
          <a:pPr>
            <a:buNone/>
          </a:pPr>
          <a:r>
            <a:rPr lang="en-GB" dirty="0"/>
            <a:t>A transformer-based visual backbone</a:t>
          </a:r>
        </a:p>
      </dgm:t>
    </dgm:pt>
    <dgm:pt modelId="{C84C717E-44EE-4282-94C3-17241E50CCB5}" type="parTrans" cxnId="{8E23F27C-085A-4427-9AEB-797989BD0559}">
      <dgm:prSet/>
      <dgm:spPr/>
      <dgm:t>
        <a:bodyPr/>
        <a:lstStyle/>
        <a:p>
          <a:endParaRPr lang="en-GB"/>
        </a:p>
      </dgm:t>
    </dgm:pt>
    <dgm:pt modelId="{10B69115-DE2A-4B1E-BF44-8CDECF1D284B}" type="sibTrans" cxnId="{8E23F27C-085A-4427-9AEB-797989BD0559}">
      <dgm:prSet/>
      <dgm:spPr/>
      <dgm:t>
        <a:bodyPr/>
        <a:lstStyle/>
        <a:p>
          <a:endParaRPr lang="en-GB"/>
        </a:p>
      </dgm:t>
    </dgm:pt>
    <dgm:pt modelId="{552B1DF3-A662-40CE-A44E-4BD597C2761B}">
      <dgm:prSet/>
      <dgm:spPr/>
      <dgm:t>
        <a:bodyPr/>
        <a:lstStyle/>
        <a:p>
          <a:pPr>
            <a:buNone/>
          </a:pPr>
          <a:r>
            <a:rPr lang="en-GB" dirty="0"/>
            <a:t>A transformer that serves both as a:</a:t>
          </a:r>
        </a:p>
      </dgm:t>
    </dgm:pt>
    <dgm:pt modelId="{77F0B340-D265-4713-B67E-8679845FFCE5}" type="parTrans" cxnId="{2D4C52AB-E06D-46CE-9886-55B4A33521D0}">
      <dgm:prSet/>
      <dgm:spPr/>
      <dgm:t>
        <a:bodyPr/>
        <a:lstStyle/>
        <a:p>
          <a:endParaRPr lang="en-GB"/>
        </a:p>
      </dgm:t>
    </dgm:pt>
    <dgm:pt modelId="{A8F69C8B-9BC0-418B-ACE0-3C73376ECC50}" type="sibTrans" cxnId="{2D4C52AB-E06D-46CE-9886-55B4A33521D0}">
      <dgm:prSet/>
      <dgm:spPr/>
      <dgm:t>
        <a:bodyPr/>
        <a:lstStyle/>
        <a:p>
          <a:endParaRPr lang="en-GB"/>
        </a:p>
      </dgm:t>
    </dgm:pt>
    <dgm:pt modelId="{C7E6B1C5-CF2C-48B0-9C4E-F49199997FE9}">
      <dgm:prSet/>
      <dgm:spPr/>
      <dgm:t>
        <a:bodyPr/>
        <a:lstStyle/>
        <a:p>
          <a:pPr>
            <a:buNone/>
          </a:pPr>
          <a:r>
            <a:rPr lang="en-GB" dirty="0"/>
            <a:t>It extracts visual tokens</a:t>
          </a:r>
        </a:p>
      </dgm:t>
    </dgm:pt>
    <dgm:pt modelId="{916BC194-A14C-49C9-A8AA-2BA4C33CA7F3}" type="parTrans" cxnId="{3E366F44-B8C0-445F-A7FA-6C2E66C2135A}">
      <dgm:prSet/>
      <dgm:spPr/>
      <dgm:t>
        <a:bodyPr/>
        <a:lstStyle/>
        <a:p>
          <a:endParaRPr lang="en-GB"/>
        </a:p>
      </dgm:t>
    </dgm:pt>
    <dgm:pt modelId="{EC6EE0DC-58E2-493D-AA60-859D87E3AF74}" type="sibTrans" cxnId="{3E366F44-B8C0-445F-A7FA-6C2E66C2135A}">
      <dgm:prSet/>
      <dgm:spPr/>
      <dgm:t>
        <a:bodyPr/>
        <a:lstStyle/>
        <a:p>
          <a:endParaRPr lang="en-GB"/>
        </a:p>
      </dgm:t>
    </dgm:pt>
    <dgm:pt modelId="{9D612166-B0A2-420C-9F03-DF8EDE704103}">
      <dgm:prSet/>
      <dgm:spPr/>
      <dgm:t>
        <a:bodyPr/>
        <a:lstStyle/>
        <a:p>
          <a:pPr>
            <a:buNone/>
          </a:pPr>
          <a:r>
            <a:rPr lang="en-GB" dirty="0"/>
            <a:t>(1) contrastive encoder for alignment</a:t>
          </a:r>
        </a:p>
      </dgm:t>
    </dgm:pt>
    <dgm:pt modelId="{9B290683-273A-430E-A35C-BCC20651A772}" type="parTrans" cxnId="{C3A60583-6ACC-4064-AFE6-4429D079DFCF}">
      <dgm:prSet/>
      <dgm:spPr/>
      <dgm:t>
        <a:bodyPr/>
        <a:lstStyle/>
        <a:p>
          <a:endParaRPr lang="en-GB"/>
        </a:p>
      </dgm:t>
    </dgm:pt>
    <dgm:pt modelId="{2767D4CD-D189-472B-8014-5F035ACDD3CE}" type="sibTrans" cxnId="{C3A60583-6ACC-4064-AFE6-4429D079DFCF}">
      <dgm:prSet/>
      <dgm:spPr/>
      <dgm:t>
        <a:bodyPr/>
        <a:lstStyle/>
        <a:p>
          <a:endParaRPr lang="en-GB"/>
        </a:p>
      </dgm:t>
    </dgm:pt>
    <dgm:pt modelId="{4BBE1E95-8874-4EA1-9DA9-EF83BBDF22C7}">
      <dgm:prSet/>
      <dgm:spPr/>
      <dgm:t>
        <a:bodyPr/>
        <a:lstStyle/>
        <a:p>
          <a:pPr>
            <a:buNone/>
          </a:pPr>
          <a:r>
            <a:rPr lang="en-GB" dirty="0"/>
            <a:t>(2) generative decoder for captioning</a:t>
          </a:r>
        </a:p>
      </dgm:t>
    </dgm:pt>
    <dgm:pt modelId="{D43B3DC5-B2CA-464A-A6A7-AA1DD4C6B1B1}" type="parTrans" cxnId="{E0098665-D09C-4B94-9BE2-DDC2CC218409}">
      <dgm:prSet/>
      <dgm:spPr/>
      <dgm:t>
        <a:bodyPr/>
        <a:lstStyle/>
        <a:p>
          <a:endParaRPr lang="en-GB"/>
        </a:p>
      </dgm:t>
    </dgm:pt>
    <dgm:pt modelId="{CDA6B11E-23BC-4955-AD77-300FBD6F1AB6}" type="sibTrans" cxnId="{E0098665-D09C-4B94-9BE2-DDC2CC218409}">
      <dgm:prSet/>
      <dgm:spPr/>
      <dgm:t>
        <a:bodyPr/>
        <a:lstStyle/>
        <a:p>
          <a:endParaRPr lang="en-GB"/>
        </a:p>
      </dgm:t>
    </dgm:pt>
    <dgm:pt modelId="{38C15083-06C1-4CA1-92D9-F0889CA81EF3}" type="pres">
      <dgm:prSet presAssocID="{4D83153F-4D49-4ED2-95FF-B2C5604E12A0}" presName="Name0" presStyleCnt="0">
        <dgm:presLayoutVars>
          <dgm:dir/>
          <dgm:animLvl val="lvl"/>
          <dgm:resizeHandles val="exact"/>
        </dgm:presLayoutVars>
      </dgm:prSet>
      <dgm:spPr/>
    </dgm:pt>
    <dgm:pt modelId="{FA75078A-D2D4-47ED-8048-97FAC7A67E87}" type="pres">
      <dgm:prSet presAssocID="{069A2A5B-E7AD-4658-9537-07A9F21939B3}" presName="boxAndChildren" presStyleCnt="0"/>
      <dgm:spPr/>
    </dgm:pt>
    <dgm:pt modelId="{15C1FDF0-734E-4362-BB5C-1B6999D60397}" type="pres">
      <dgm:prSet presAssocID="{069A2A5B-E7AD-4658-9537-07A9F21939B3}" presName="parentTextBox" presStyleLbl="node1" presStyleIdx="0" presStyleCnt="3"/>
      <dgm:spPr/>
    </dgm:pt>
    <dgm:pt modelId="{A37A37C7-6DD2-48EC-A9E5-FE87CD2C713D}" type="pres">
      <dgm:prSet presAssocID="{069A2A5B-E7AD-4658-9537-07A9F21939B3}" presName="entireBox" presStyleLbl="node1" presStyleIdx="0" presStyleCnt="3"/>
      <dgm:spPr/>
    </dgm:pt>
    <dgm:pt modelId="{0C738333-C3BE-4D51-9D58-7639A6969E09}" type="pres">
      <dgm:prSet presAssocID="{069A2A5B-E7AD-4658-9537-07A9F21939B3}" presName="descendantBox" presStyleCnt="0"/>
      <dgm:spPr/>
    </dgm:pt>
    <dgm:pt modelId="{0010720D-30AB-4B38-9479-CD3CAE36CAFD}" type="pres">
      <dgm:prSet presAssocID="{870F80B8-F6C4-4338-B6E2-3E624E53DDF5}" presName="childTextBox" presStyleLbl="fgAccFollowNode1" presStyleIdx="0" presStyleCnt="7">
        <dgm:presLayoutVars>
          <dgm:bulletEnabled val="1"/>
        </dgm:presLayoutVars>
      </dgm:prSet>
      <dgm:spPr/>
    </dgm:pt>
    <dgm:pt modelId="{FB9DD1A5-393F-4EF5-8394-89027D10F0D1}" type="pres">
      <dgm:prSet presAssocID="{0AC88CCB-9612-45D7-911A-D625A2F89CC9}" presName="childTextBox" presStyleLbl="fgAccFollowNode1" presStyleIdx="1" presStyleCnt="7">
        <dgm:presLayoutVars>
          <dgm:bulletEnabled val="1"/>
        </dgm:presLayoutVars>
      </dgm:prSet>
      <dgm:spPr/>
    </dgm:pt>
    <dgm:pt modelId="{7CA19983-7DA3-4916-B7D7-8339A7FF0506}" type="pres">
      <dgm:prSet presAssocID="{4A8A5916-A948-46CB-B27B-01F8EE34E471}" presName="sp" presStyleCnt="0"/>
      <dgm:spPr/>
    </dgm:pt>
    <dgm:pt modelId="{5DF4939B-7A84-4BF9-AA34-87DFEFEB1268}" type="pres">
      <dgm:prSet presAssocID="{681E7474-2F1F-4E0E-849F-762286E0E3CA}" presName="arrowAndChildren" presStyleCnt="0"/>
      <dgm:spPr/>
    </dgm:pt>
    <dgm:pt modelId="{446D0DFF-92C0-479E-AB10-A93731AFF7BE}" type="pres">
      <dgm:prSet presAssocID="{681E7474-2F1F-4E0E-849F-762286E0E3CA}" presName="parentTextArrow" presStyleLbl="node1" presStyleIdx="0" presStyleCnt="3"/>
      <dgm:spPr/>
    </dgm:pt>
    <dgm:pt modelId="{40DFD775-B114-446F-B4A3-21CBE70C92CF}" type="pres">
      <dgm:prSet presAssocID="{681E7474-2F1F-4E0E-849F-762286E0E3CA}" presName="arrow" presStyleLbl="node1" presStyleIdx="1" presStyleCnt="3"/>
      <dgm:spPr/>
    </dgm:pt>
    <dgm:pt modelId="{2FFB1BD3-41F9-46FC-9E43-17EB40B9BD3A}" type="pres">
      <dgm:prSet presAssocID="{681E7474-2F1F-4E0E-849F-762286E0E3CA}" presName="descendantArrow" presStyleCnt="0"/>
      <dgm:spPr/>
    </dgm:pt>
    <dgm:pt modelId="{4996DD2D-33B9-4663-ABFF-185D41FD4292}" type="pres">
      <dgm:prSet presAssocID="{552B1DF3-A662-40CE-A44E-4BD597C2761B}" presName="childTextArrow" presStyleLbl="fgAccFollowNode1" presStyleIdx="2" presStyleCnt="7">
        <dgm:presLayoutVars>
          <dgm:bulletEnabled val="1"/>
        </dgm:presLayoutVars>
      </dgm:prSet>
      <dgm:spPr/>
    </dgm:pt>
    <dgm:pt modelId="{5D4C46E7-812F-4AB1-895B-CA5E4E353693}" type="pres">
      <dgm:prSet presAssocID="{9D612166-B0A2-420C-9F03-DF8EDE704103}" presName="childTextArrow" presStyleLbl="fgAccFollowNode1" presStyleIdx="3" presStyleCnt="7">
        <dgm:presLayoutVars>
          <dgm:bulletEnabled val="1"/>
        </dgm:presLayoutVars>
      </dgm:prSet>
      <dgm:spPr/>
    </dgm:pt>
    <dgm:pt modelId="{0D1B0481-0ACE-4063-89F8-90FE742325B4}" type="pres">
      <dgm:prSet presAssocID="{4BBE1E95-8874-4EA1-9DA9-EF83BBDF22C7}" presName="childTextArrow" presStyleLbl="fgAccFollowNode1" presStyleIdx="4" presStyleCnt="7">
        <dgm:presLayoutVars>
          <dgm:bulletEnabled val="1"/>
        </dgm:presLayoutVars>
      </dgm:prSet>
      <dgm:spPr/>
    </dgm:pt>
    <dgm:pt modelId="{724FF625-6F98-47F4-95C2-2DEB83AEF124}" type="pres">
      <dgm:prSet presAssocID="{98C5EF2F-25C1-4AD3-8E46-0D59E2FE6471}" presName="sp" presStyleCnt="0"/>
      <dgm:spPr/>
    </dgm:pt>
    <dgm:pt modelId="{5B07D859-FC60-449E-BDA7-824C8625ED8D}" type="pres">
      <dgm:prSet presAssocID="{FDFC5B26-D331-4F3E-A0E5-57AE27FD5CE4}" presName="arrowAndChildren" presStyleCnt="0"/>
      <dgm:spPr/>
    </dgm:pt>
    <dgm:pt modelId="{BF4059E4-E5F3-4892-8EEB-3777D72DBA0A}" type="pres">
      <dgm:prSet presAssocID="{FDFC5B26-D331-4F3E-A0E5-57AE27FD5CE4}" presName="parentTextArrow" presStyleLbl="node1" presStyleIdx="1" presStyleCnt="3"/>
      <dgm:spPr/>
    </dgm:pt>
    <dgm:pt modelId="{8FFD2812-4574-4E65-87D2-BF9DBD9480EC}" type="pres">
      <dgm:prSet presAssocID="{FDFC5B26-D331-4F3E-A0E5-57AE27FD5CE4}" presName="arrow" presStyleLbl="node1" presStyleIdx="2" presStyleCnt="3"/>
      <dgm:spPr/>
    </dgm:pt>
    <dgm:pt modelId="{F2AE4A12-F1C3-4E59-B34B-082A6CE66B0A}" type="pres">
      <dgm:prSet presAssocID="{FDFC5B26-D331-4F3E-A0E5-57AE27FD5CE4}" presName="descendantArrow" presStyleCnt="0"/>
      <dgm:spPr/>
    </dgm:pt>
    <dgm:pt modelId="{6AE1BF1B-5528-4A3A-ABFE-B6546B290E72}" type="pres">
      <dgm:prSet presAssocID="{C0404112-BF1A-4BF2-A648-6ACF05A3E931}" presName="childTextArrow" presStyleLbl="fgAccFollowNode1" presStyleIdx="5" presStyleCnt="7">
        <dgm:presLayoutVars>
          <dgm:bulletEnabled val="1"/>
        </dgm:presLayoutVars>
      </dgm:prSet>
      <dgm:spPr/>
    </dgm:pt>
    <dgm:pt modelId="{3ABA924D-5AED-4E6E-8329-5B81074189DD}" type="pres">
      <dgm:prSet presAssocID="{C7E6B1C5-CF2C-48B0-9C4E-F49199997FE9}" presName="childTextArrow" presStyleLbl="fgAccFollowNode1" presStyleIdx="6" presStyleCnt="7">
        <dgm:presLayoutVars>
          <dgm:bulletEnabled val="1"/>
        </dgm:presLayoutVars>
      </dgm:prSet>
      <dgm:spPr/>
    </dgm:pt>
  </dgm:ptLst>
  <dgm:cxnLst>
    <dgm:cxn modelId="{601CEE05-F8A0-45AB-9174-A18511B1E1CE}" type="presOf" srcId="{0AC88CCB-9612-45D7-911A-D625A2F89CC9}" destId="{FB9DD1A5-393F-4EF5-8394-89027D10F0D1}" srcOrd="0" destOrd="0" presId="urn:microsoft.com/office/officeart/2005/8/layout/process4"/>
    <dgm:cxn modelId="{BA73D70F-3744-4736-8BFB-54607123E90A}" type="presOf" srcId="{FDFC5B26-D331-4F3E-A0E5-57AE27FD5CE4}" destId="{BF4059E4-E5F3-4892-8EEB-3777D72DBA0A}" srcOrd="0" destOrd="0" presId="urn:microsoft.com/office/officeart/2005/8/layout/process4"/>
    <dgm:cxn modelId="{40F2F711-5F39-4CF2-A0BE-67477AD2D90F}" type="presOf" srcId="{681E7474-2F1F-4E0E-849F-762286E0E3CA}" destId="{40DFD775-B114-446F-B4A3-21CBE70C92CF}" srcOrd="1" destOrd="0" presId="urn:microsoft.com/office/officeart/2005/8/layout/process4"/>
    <dgm:cxn modelId="{33284816-025C-4954-BE7B-350C07446B41}" type="presOf" srcId="{FDFC5B26-D331-4F3E-A0E5-57AE27FD5CE4}" destId="{8FFD2812-4574-4E65-87D2-BF9DBD9480EC}" srcOrd="1" destOrd="0" presId="urn:microsoft.com/office/officeart/2005/8/layout/process4"/>
    <dgm:cxn modelId="{43B48B23-617C-4974-B2CA-217AB248B1F0}" srcId="{4D83153F-4D49-4ED2-95FF-B2C5604E12A0}" destId="{681E7474-2F1F-4E0E-849F-762286E0E3CA}" srcOrd="1" destOrd="0" parTransId="{E74734E5-7429-4130-85E3-9EE8429B7E7D}" sibTransId="{4A8A5916-A948-46CB-B27B-01F8EE34E471}"/>
    <dgm:cxn modelId="{53CF6D26-62E8-451F-812F-9D2C014408C0}" type="presOf" srcId="{681E7474-2F1F-4E0E-849F-762286E0E3CA}" destId="{446D0DFF-92C0-479E-AB10-A93731AFF7BE}" srcOrd="0" destOrd="0" presId="urn:microsoft.com/office/officeart/2005/8/layout/process4"/>
    <dgm:cxn modelId="{26E2EF29-7DD3-43B9-B0F7-9483008731E9}" type="presOf" srcId="{9D612166-B0A2-420C-9F03-DF8EDE704103}" destId="{5D4C46E7-812F-4AB1-895B-CA5E4E353693}" srcOrd="0" destOrd="0" presId="urn:microsoft.com/office/officeart/2005/8/layout/process4"/>
    <dgm:cxn modelId="{87B11534-FD0A-47DC-BB4B-A5C52B15A5D6}" type="presOf" srcId="{069A2A5B-E7AD-4658-9537-07A9F21939B3}" destId="{15C1FDF0-734E-4362-BB5C-1B6999D60397}" srcOrd="0" destOrd="0" presId="urn:microsoft.com/office/officeart/2005/8/layout/process4"/>
    <dgm:cxn modelId="{5350E340-A5D8-45CF-AA4A-1980DA3754BF}" type="presOf" srcId="{870F80B8-F6C4-4338-B6E2-3E624E53DDF5}" destId="{0010720D-30AB-4B38-9479-CD3CAE36CAFD}" srcOrd="0" destOrd="0" presId="urn:microsoft.com/office/officeart/2005/8/layout/process4"/>
    <dgm:cxn modelId="{3E366F44-B8C0-445F-A7FA-6C2E66C2135A}" srcId="{FDFC5B26-D331-4F3E-A0E5-57AE27FD5CE4}" destId="{C7E6B1C5-CF2C-48B0-9C4E-F49199997FE9}" srcOrd="1" destOrd="0" parTransId="{916BC194-A14C-49C9-A8AA-2BA4C33CA7F3}" sibTransId="{EC6EE0DC-58E2-493D-AA60-859D87E3AF74}"/>
    <dgm:cxn modelId="{E0098665-D09C-4B94-9BE2-DDC2CC218409}" srcId="{681E7474-2F1F-4E0E-849F-762286E0E3CA}" destId="{4BBE1E95-8874-4EA1-9DA9-EF83BBDF22C7}" srcOrd="2" destOrd="0" parTransId="{D43B3DC5-B2CA-464A-A6A7-AA1DD4C6B1B1}" sibTransId="{CDA6B11E-23BC-4955-AD77-300FBD6F1AB6}"/>
    <dgm:cxn modelId="{74C0CB48-1AB8-47EC-8858-7AACD4A080CA}" type="presOf" srcId="{C7E6B1C5-CF2C-48B0-9C4E-F49199997FE9}" destId="{3ABA924D-5AED-4E6E-8329-5B81074189DD}" srcOrd="0" destOrd="0" presId="urn:microsoft.com/office/officeart/2005/8/layout/process4"/>
    <dgm:cxn modelId="{0473C56A-4B7B-459A-8BD9-60C1C60211CE}" type="presOf" srcId="{552B1DF3-A662-40CE-A44E-4BD597C2761B}" destId="{4996DD2D-33B9-4663-ABFF-185D41FD4292}" srcOrd="0" destOrd="0" presId="urn:microsoft.com/office/officeart/2005/8/layout/process4"/>
    <dgm:cxn modelId="{45BDCF50-6C3C-4D00-8FD0-1EFE819E90EF}" type="presOf" srcId="{4D83153F-4D49-4ED2-95FF-B2C5604E12A0}" destId="{38C15083-06C1-4CA1-92D9-F0889CA81EF3}" srcOrd="0" destOrd="0" presId="urn:microsoft.com/office/officeart/2005/8/layout/process4"/>
    <dgm:cxn modelId="{8764DD75-0ABD-4849-8A05-9E97CBEE8871}" srcId="{4D83153F-4D49-4ED2-95FF-B2C5604E12A0}" destId="{FDFC5B26-D331-4F3E-A0E5-57AE27FD5CE4}" srcOrd="0" destOrd="0" parTransId="{3358B53B-E790-4BB1-B6DF-85317BF2FCC8}" sibTransId="{98C5EF2F-25C1-4AD3-8E46-0D59E2FE6471}"/>
    <dgm:cxn modelId="{E9E6895A-32B3-4B95-A955-F731B687A5FB}" srcId="{069A2A5B-E7AD-4658-9537-07A9F21939B3}" destId="{870F80B8-F6C4-4338-B6E2-3E624E53DDF5}" srcOrd="0" destOrd="0" parTransId="{EFC4BB47-F246-4A17-93EB-902BDDAF69AA}" sibTransId="{9DEDF6A9-F7AC-4C06-9FDC-3BFF2585EB25}"/>
    <dgm:cxn modelId="{8E23F27C-085A-4427-9AEB-797989BD0559}" srcId="{FDFC5B26-D331-4F3E-A0E5-57AE27FD5CE4}" destId="{C0404112-BF1A-4BF2-A648-6ACF05A3E931}" srcOrd="0" destOrd="0" parTransId="{C84C717E-44EE-4282-94C3-17241E50CCB5}" sibTransId="{10B69115-DE2A-4B1E-BF44-8CDECF1D284B}"/>
    <dgm:cxn modelId="{C3A60583-6ACC-4064-AFE6-4429D079DFCF}" srcId="{681E7474-2F1F-4E0E-849F-762286E0E3CA}" destId="{9D612166-B0A2-420C-9F03-DF8EDE704103}" srcOrd="1" destOrd="0" parTransId="{9B290683-273A-430E-A35C-BCC20651A772}" sibTransId="{2767D4CD-D189-472B-8014-5F035ACDD3CE}"/>
    <dgm:cxn modelId="{60D77494-CC03-48BD-9A10-CFD107ECDF96}" type="presOf" srcId="{C0404112-BF1A-4BF2-A648-6ACF05A3E931}" destId="{6AE1BF1B-5528-4A3A-ABFE-B6546B290E72}" srcOrd="0" destOrd="0" presId="urn:microsoft.com/office/officeart/2005/8/layout/process4"/>
    <dgm:cxn modelId="{2D4C52AB-E06D-46CE-9886-55B4A33521D0}" srcId="{681E7474-2F1F-4E0E-849F-762286E0E3CA}" destId="{552B1DF3-A662-40CE-A44E-4BD597C2761B}" srcOrd="0" destOrd="0" parTransId="{77F0B340-D265-4713-B67E-8679845FFCE5}" sibTransId="{A8F69C8B-9BC0-418B-ACE0-3C73376ECC50}"/>
    <dgm:cxn modelId="{9E72E4B4-CB29-45A3-8A51-1DCAD88E7318}" type="presOf" srcId="{4BBE1E95-8874-4EA1-9DA9-EF83BBDF22C7}" destId="{0D1B0481-0ACE-4063-89F8-90FE742325B4}" srcOrd="0" destOrd="0" presId="urn:microsoft.com/office/officeart/2005/8/layout/process4"/>
    <dgm:cxn modelId="{B6A6F8DD-0EFB-4862-9AD4-CB8C9FCE8AD1}" srcId="{4D83153F-4D49-4ED2-95FF-B2C5604E12A0}" destId="{069A2A5B-E7AD-4658-9537-07A9F21939B3}" srcOrd="2" destOrd="0" parTransId="{8D835E82-C971-4790-82CF-9286DC278780}" sibTransId="{1A19F5F4-07EB-479E-B6DE-520D401BCE6C}"/>
    <dgm:cxn modelId="{CD7D36E0-9FCA-4937-9F4E-EBC79BFA97C7}" type="presOf" srcId="{069A2A5B-E7AD-4658-9537-07A9F21939B3}" destId="{A37A37C7-6DD2-48EC-A9E5-FE87CD2C713D}" srcOrd="1" destOrd="0" presId="urn:microsoft.com/office/officeart/2005/8/layout/process4"/>
    <dgm:cxn modelId="{C87EF2EE-7490-48B7-B463-F5D5B6656DD7}" srcId="{069A2A5B-E7AD-4658-9537-07A9F21939B3}" destId="{0AC88CCB-9612-45D7-911A-D625A2F89CC9}" srcOrd="1" destOrd="0" parTransId="{79873834-E300-49DB-81DD-2BBE76F6667C}" sibTransId="{1F47B7BD-58B4-459C-B8BB-109553223D44}"/>
    <dgm:cxn modelId="{4B0FC911-CBF4-4284-8A84-38596F894DDC}" type="presParOf" srcId="{38C15083-06C1-4CA1-92D9-F0889CA81EF3}" destId="{FA75078A-D2D4-47ED-8048-97FAC7A67E87}" srcOrd="0" destOrd="0" presId="urn:microsoft.com/office/officeart/2005/8/layout/process4"/>
    <dgm:cxn modelId="{96EF5C8F-9901-482E-9806-2BF7BDD322BF}" type="presParOf" srcId="{FA75078A-D2D4-47ED-8048-97FAC7A67E87}" destId="{15C1FDF0-734E-4362-BB5C-1B6999D60397}" srcOrd="0" destOrd="0" presId="urn:microsoft.com/office/officeart/2005/8/layout/process4"/>
    <dgm:cxn modelId="{E7C2862B-9B41-45B7-8FF1-CE1A2B340C96}" type="presParOf" srcId="{FA75078A-D2D4-47ED-8048-97FAC7A67E87}" destId="{A37A37C7-6DD2-48EC-A9E5-FE87CD2C713D}" srcOrd="1" destOrd="0" presId="urn:microsoft.com/office/officeart/2005/8/layout/process4"/>
    <dgm:cxn modelId="{E54BBDCA-7394-4B9F-B725-C62C10476FB3}" type="presParOf" srcId="{FA75078A-D2D4-47ED-8048-97FAC7A67E87}" destId="{0C738333-C3BE-4D51-9D58-7639A6969E09}" srcOrd="2" destOrd="0" presId="urn:microsoft.com/office/officeart/2005/8/layout/process4"/>
    <dgm:cxn modelId="{882C47BE-A4B2-45BB-BADF-4BDC4F4B6EB0}" type="presParOf" srcId="{0C738333-C3BE-4D51-9D58-7639A6969E09}" destId="{0010720D-30AB-4B38-9479-CD3CAE36CAFD}" srcOrd="0" destOrd="0" presId="urn:microsoft.com/office/officeart/2005/8/layout/process4"/>
    <dgm:cxn modelId="{3BCEA947-DFF2-4509-8019-743991D2902F}" type="presParOf" srcId="{0C738333-C3BE-4D51-9D58-7639A6969E09}" destId="{FB9DD1A5-393F-4EF5-8394-89027D10F0D1}" srcOrd="1" destOrd="0" presId="urn:microsoft.com/office/officeart/2005/8/layout/process4"/>
    <dgm:cxn modelId="{A6921556-3635-4450-B253-3E49491C0CC7}" type="presParOf" srcId="{38C15083-06C1-4CA1-92D9-F0889CA81EF3}" destId="{7CA19983-7DA3-4916-B7D7-8339A7FF0506}" srcOrd="1" destOrd="0" presId="urn:microsoft.com/office/officeart/2005/8/layout/process4"/>
    <dgm:cxn modelId="{344BADDE-3B7A-4ED7-9A93-E2D6417D0C0F}" type="presParOf" srcId="{38C15083-06C1-4CA1-92D9-F0889CA81EF3}" destId="{5DF4939B-7A84-4BF9-AA34-87DFEFEB1268}" srcOrd="2" destOrd="0" presId="urn:microsoft.com/office/officeart/2005/8/layout/process4"/>
    <dgm:cxn modelId="{B05CBF98-F0F0-4089-846A-20738CE375CA}" type="presParOf" srcId="{5DF4939B-7A84-4BF9-AA34-87DFEFEB1268}" destId="{446D0DFF-92C0-479E-AB10-A93731AFF7BE}" srcOrd="0" destOrd="0" presId="urn:microsoft.com/office/officeart/2005/8/layout/process4"/>
    <dgm:cxn modelId="{E673A973-1C9A-49F0-8CE4-25BB464842E7}" type="presParOf" srcId="{5DF4939B-7A84-4BF9-AA34-87DFEFEB1268}" destId="{40DFD775-B114-446F-B4A3-21CBE70C92CF}" srcOrd="1" destOrd="0" presId="urn:microsoft.com/office/officeart/2005/8/layout/process4"/>
    <dgm:cxn modelId="{7DEAECB7-61AA-433C-9ACC-2BBF00CD6167}" type="presParOf" srcId="{5DF4939B-7A84-4BF9-AA34-87DFEFEB1268}" destId="{2FFB1BD3-41F9-46FC-9E43-17EB40B9BD3A}" srcOrd="2" destOrd="0" presId="urn:microsoft.com/office/officeart/2005/8/layout/process4"/>
    <dgm:cxn modelId="{12FD11F8-BE5A-4A46-983F-AFF0372BB667}" type="presParOf" srcId="{2FFB1BD3-41F9-46FC-9E43-17EB40B9BD3A}" destId="{4996DD2D-33B9-4663-ABFF-185D41FD4292}" srcOrd="0" destOrd="0" presId="urn:microsoft.com/office/officeart/2005/8/layout/process4"/>
    <dgm:cxn modelId="{67EECE67-BE33-487B-B790-AB80303309B5}" type="presParOf" srcId="{2FFB1BD3-41F9-46FC-9E43-17EB40B9BD3A}" destId="{5D4C46E7-812F-4AB1-895B-CA5E4E353693}" srcOrd="1" destOrd="0" presId="urn:microsoft.com/office/officeart/2005/8/layout/process4"/>
    <dgm:cxn modelId="{6F60B23A-922D-4242-8A5C-A11B17B1C974}" type="presParOf" srcId="{2FFB1BD3-41F9-46FC-9E43-17EB40B9BD3A}" destId="{0D1B0481-0ACE-4063-89F8-90FE742325B4}" srcOrd="2" destOrd="0" presId="urn:microsoft.com/office/officeart/2005/8/layout/process4"/>
    <dgm:cxn modelId="{776E34F2-98DB-435F-B21D-3958C7ECB0DC}" type="presParOf" srcId="{38C15083-06C1-4CA1-92D9-F0889CA81EF3}" destId="{724FF625-6F98-47F4-95C2-2DEB83AEF124}" srcOrd="3" destOrd="0" presId="urn:microsoft.com/office/officeart/2005/8/layout/process4"/>
    <dgm:cxn modelId="{045EE91F-EB02-46DC-93F9-583BA1B18260}" type="presParOf" srcId="{38C15083-06C1-4CA1-92D9-F0889CA81EF3}" destId="{5B07D859-FC60-449E-BDA7-824C8625ED8D}" srcOrd="4" destOrd="0" presId="urn:microsoft.com/office/officeart/2005/8/layout/process4"/>
    <dgm:cxn modelId="{9019DECC-9488-4BCD-B0AD-2390F5DDD70B}" type="presParOf" srcId="{5B07D859-FC60-449E-BDA7-824C8625ED8D}" destId="{BF4059E4-E5F3-4892-8EEB-3777D72DBA0A}" srcOrd="0" destOrd="0" presId="urn:microsoft.com/office/officeart/2005/8/layout/process4"/>
    <dgm:cxn modelId="{9CB1AA02-A7B7-4DE5-B915-98AAA8442511}" type="presParOf" srcId="{5B07D859-FC60-449E-BDA7-824C8625ED8D}" destId="{8FFD2812-4574-4E65-87D2-BF9DBD9480EC}" srcOrd="1" destOrd="0" presId="urn:microsoft.com/office/officeart/2005/8/layout/process4"/>
    <dgm:cxn modelId="{A868DF0F-307A-46D9-A762-28D8014A76FB}" type="presParOf" srcId="{5B07D859-FC60-449E-BDA7-824C8625ED8D}" destId="{F2AE4A12-F1C3-4E59-B34B-082A6CE66B0A}" srcOrd="2" destOrd="0" presId="urn:microsoft.com/office/officeart/2005/8/layout/process4"/>
    <dgm:cxn modelId="{07CC6111-9882-4C79-9592-207D98C51215}" type="presParOf" srcId="{F2AE4A12-F1C3-4E59-B34B-082A6CE66B0A}" destId="{6AE1BF1B-5528-4A3A-ABFE-B6546B290E72}" srcOrd="0" destOrd="0" presId="urn:microsoft.com/office/officeart/2005/8/layout/process4"/>
    <dgm:cxn modelId="{C5A28351-0909-4F55-B70D-76EB6201B20C}" type="presParOf" srcId="{F2AE4A12-F1C3-4E59-B34B-082A6CE66B0A}" destId="{3ABA924D-5AED-4E6E-8329-5B81074189DD}" srcOrd="1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D83153F-4D49-4ED2-95FF-B2C5604E12A0}" type="doc">
      <dgm:prSet loTypeId="urn:microsoft.com/office/officeart/2005/8/layout/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FDFC5B26-D331-4F3E-A0E5-57AE27FD5CE4}">
      <dgm:prSet phldrT="[Text]"/>
      <dgm:spPr/>
      <dgm:t>
        <a:bodyPr/>
        <a:lstStyle/>
        <a:p>
          <a:pPr>
            <a:buNone/>
          </a:pPr>
          <a:r>
            <a:rPr lang="en-GB" b="1"/>
            <a:t>Vision Encoder</a:t>
          </a:r>
          <a:endParaRPr lang="en-GB" dirty="0"/>
        </a:p>
      </dgm:t>
    </dgm:pt>
    <dgm:pt modelId="{3358B53B-E790-4BB1-B6DF-85317BF2FCC8}" type="parTrans" cxnId="{8764DD75-0ABD-4849-8A05-9E97CBEE8871}">
      <dgm:prSet/>
      <dgm:spPr/>
      <dgm:t>
        <a:bodyPr/>
        <a:lstStyle/>
        <a:p>
          <a:endParaRPr lang="en-GB"/>
        </a:p>
      </dgm:t>
    </dgm:pt>
    <dgm:pt modelId="{98C5EF2F-25C1-4AD3-8E46-0D59E2FE6471}" type="sibTrans" cxnId="{8764DD75-0ABD-4849-8A05-9E97CBEE8871}">
      <dgm:prSet/>
      <dgm:spPr/>
      <dgm:t>
        <a:bodyPr/>
        <a:lstStyle/>
        <a:p>
          <a:endParaRPr lang="en-GB"/>
        </a:p>
      </dgm:t>
    </dgm:pt>
    <dgm:pt modelId="{681E7474-2F1F-4E0E-849F-762286E0E3CA}">
      <dgm:prSet/>
      <dgm:spPr/>
      <dgm:t>
        <a:bodyPr/>
        <a:lstStyle/>
        <a:p>
          <a:pPr>
            <a:buNone/>
          </a:pPr>
          <a:r>
            <a:rPr lang="en-GB" b="1" dirty="0"/>
            <a:t>Large Language Model</a:t>
          </a:r>
          <a:endParaRPr lang="en-GB" dirty="0"/>
        </a:p>
      </dgm:t>
    </dgm:pt>
    <dgm:pt modelId="{E74734E5-7429-4130-85E3-9EE8429B7E7D}" type="parTrans" cxnId="{43B48B23-617C-4974-B2CA-217AB248B1F0}">
      <dgm:prSet/>
      <dgm:spPr/>
      <dgm:t>
        <a:bodyPr/>
        <a:lstStyle/>
        <a:p>
          <a:endParaRPr lang="en-GB"/>
        </a:p>
      </dgm:t>
    </dgm:pt>
    <dgm:pt modelId="{4A8A5916-A948-46CB-B27B-01F8EE34E471}" type="sibTrans" cxnId="{43B48B23-617C-4974-B2CA-217AB248B1F0}">
      <dgm:prSet/>
      <dgm:spPr/>
      <dgm:t>
        <a:bodyPr/>
        <a:lstStyle/>
        <a:p>
          <a:endParaRPr lang="en-GB"/>
        </a:p>
      </dgm:t>
    </dgm:pt>
    <dgm:pt modelId="{069A2A5B-E7AD-4658-9537-07A9F21939B3}">
      <dgm:prSet/>
      <dgm:spPr/>
      <dgm:t>
        <a:bodyPr/>
        <a:lstStyle/>
        <a:p>
          <a:pPr>
            <a:buNone/>
          </a:pPr>
          <a:r>
            <a:rPr lang="en-GB" dirty="0"/>
            <a:t>Adapter / Connector</a:t>
          </a:r>
        </a:p>
      </dgm:t>
    </dgm:pt>
    <dgm:pt modelId="{8D835E82-C971-4790-82CF-9286DC278780}" type="parTrans" cxnId="{B6A6F8DD-0EFB-4862-9AD4-CB8C9FCE8AD1}">
      <dgm:prSet/>
      <dgm:spPr/>
      <dgm:t>
        <a:bodyPr/>
        <a:lstStyle/>
        <a:p>
          <a:endParaRPr lang="en-GB"/>
        </a:p>
      </dgm:t>
    </dgm:pt>
    <dgm:pt modelId="{1A19F5F4-07EB-479E-B6DE-520D401BCE6C}" type="sibTrans" cxnId="{B6A6F8DD-0EFB-4862-9AD4-CB8C9FCE8AD1}">
      <dgm:prSet/>
      <dgm:spPr/>
      <dgm:t>
        <a:bodyPr/>
        <a:lstStyle/>
        <a:p>
          <a:endParaRPr lang="en-GB"/>
        </a:p>
      </dgm:t>
    </dgm:pt>
    <dgm:pt modelId="{C0404112-BF1A-4BF2-A648-6ACF05A3E931}">
      <dgm:prSet/>
      <dgm:spPr/>
      <dgm:t>
        <a:bodyPr/>
        <a:lstStyle/>
        <a:p>
          <a:pPr>
            <a:buNone/>
          </a:pPr>
          <a:r>
            <a:rPr lang="en-GB" b="0" i="1" dirty="0"/>
            <a:t>Pretrained</a:t>
          </a:r>
          <a:r>
            <a:rPr lang="en-GB" dirty="0"/>
            <a:t> visual backbone </a:t>
          </a:r>
        </a:p>
        <a:p>
          <a:pPr>
            <a:buNone/>
          </a:pPr>
          <a:r>
            <a:rPr lang="en-GB" dirty="0"/>
            <a:t>(e.g., CLIP-</a:t>
          </a:r>
          <a:r>
            <a:rPr lang="en-GB" dirty="0" err="1"/>
            <a:t>ViT</a:t>
          </a:r>
          <a:r>
            <a:rPr lang="en-GB" dirty="0"/>
            <a:t>, EVA, Swin)</a:t>
          </a:r>
        </a:p>
      </dgm:t>
    </dgm:pt>
    <dgm:pt modelId="{C84C717E-44EE-4282-94C3-17241E50CCB5}" type="parTrans" cxnId="{8E23F27C-085A-4427-9AEB-797989BD0559}">
      <dgm:prSet/>
      <dgm:spPr/>
      <dgm:t>
        <a:bodyPr/>
        <a:lstStyle/>
        <a:p>
          <a:endParaRPr lang="en-GB"/>
        </a:p>
      </dgm:t>
    </dgm:pt>
    <dgm:pt modelId="{10B69115-DE2A-4B1E-BF44-8CDECF1D284B}" type="sibTrans" cxnId="{8E23F27C-085A-4427-9AEB-797989BD0559}">
      <dgm:prSet/>
      <dgm:spPr/>
      <dgm:t>
        <a:bodyPr/>
        <a:lstStyle/>
        <a:p>
          <a:endParaRPr lang="en-GB"/>
        </a:p>
      </dgm:t>
    </dgm:pt>
    <dgm:pt modelId="{552B1DF3-A662-40CE-A44E-4BD597C2761B}">
      <dgm:prSet/>
      <dgm:spPr/>
      <dgm:t>
        <a:bodyPr/>
        <a:lstStyle/>
        <a:p>
          <a:pPr>
            <a:buNone/>
          </a:pPr>
          <a:r>
            <a:rPr lang="en-GB" dirty="0"/>
            <a:t>A pretrained textual model </a:t>
          </a:r>
        </a:p>
        <a:p>
          <a:pPr>
            <a:buNone/>
          </a:pPr>
          <a:r>
            <a:rPr lang="en-GB" dirty="0"/>
            <a:t>(e.g., T5, GPT, Llama)</a:t>
          </a:r>
        </a:p>
      </dgm:t>
    </dgm:pt>
    <dgm:pt modelId="{77F0B340-D265-4713-B67E-8679845FFCE5}" type="parTrans" cxnId="{2D4C52AB-E06D-46CE-9886-55B4A33521D0}">
      <dgm:prSet/>
      <dgm:spPr/>
      <dgm:t>
        <a:bodyPr/>
        <a:lstStyle/>
        <a:p>
          <a:endParaRPr lang="en-GB"/>
        </a:p>
      </dgm:t>
    </dgm:pt>
    <dgm:pt modelId="{A8F69C8B-9BC0-418B-ACE0-3C73376ECC50}" type="sibTrans" cxnId="{2D4C52AB-E06D-46CE-9886-55B4A33521D0}">
      <dgm:prSet/>
      <dgm:spPr/>
      <dgm:t>
        <a:bodyPr/>
        <a:lstStyle/>
        <a:p>
          <a:endParaRPr lang="en-GB"/>
        </a:p>
      </dgm:t>
    </dgm:pt>
    <dgm:pt modelId="{C4408353-8854-4276-A466-9CEE7B224B9E}">
      <dgm:prSet/>
      <dgm:spPr/>
      <dgm:t>
        <a:bodyPr/>
        <a:lstStyle/>
        <a:p>
          <a:pPr>
            <a:buNone/>
          </a:pPr>
          <a:r>
            <a:rPr lang="en-GB" dirty="0"/>
            <a:t>It extracts visual tokens</a:t>
          </a:r>
        </a:p>
      </dgm:t>
    </dgm:pt>
    <dgm:pt modelId="{6D8D987E-9BD0-45FD-AC34-FD203C0BF1EA}" type="parTrans" cxnId="{002E0BEB-7099-42FF-9CD7-CDC5A404498B}">
      <dgm:prSet/>
      <dgm:spPr/>
      <dgm:t>
        <a:bodyPr/>
        <a:lstStyle/>
        <a:p>
          <a:endParaRPr lang="en-GB"/>
        </a:p>
      </dgm:t>
    </dgm:pt>
    <dgm:pt modelId="{DD115441-AE99-483C-A7FE-C727B9CB788B}" type="sibTrans" cxnId="{002E0BEB-7099-42FF-9CD7-CDC5A404498B}">
      <dgm:prSet/>
      <dgm:spPr/>
      <dgm:t>
        <a:bodyPr/>
        <a:lstStyle/>
        <a:p>
          <a:endParaRPr lang="en-GB"/>
        </a:p>
      </dgm:t>
    </dgm:pt>
    <dgm:pt modelId="{5F489ABA-B802-4473-B4C8-65D73A8D4D3B}">
      <dgm:prSet/>
      <dgm:spPr/>
      <dgm:t>
        <a:bodyPr/>
        <a:lstStyle/>
        <a:p>
          <a:pPr>
            <a:buNone/>
          </a:pPr>
          <a:r>
            <a:rPr lang="en-GB" dirty="0"/>
            <a:t>It can be frozen or fine-tuned</a:t>
          </a:r>
        </a:p>
      </dgm:t>
    </dgm:pt>
    <dgm:pt modelId="{30B95DAD-07BB-45E4-BBAF-9AE56D78EE72}" type="parTrans" cxnId="{8426C8E2-A7EB-4A17-8EEF-7575E4B3A321}">
      <dgm:prSet/>
      <dgm:spPr/>
      <dgm:t>
        <a:bodyPr/>
        <a:lstStyle/>
        <a:p>
          <a:endParaRPr lang="en-GB"/>
        </a:p>
      </dgm:t>
    </dgm:pt>
    <dgm:pt modelId="{192D6212-7546-420A-AF03-480C26A546B8}" type="sibTrans" cxnId="{8426C8E2-A7EB-4A17-8EEF-7575E4B3A321}">
      <dgm:prSet/>
      <dgm:spPr/>
      <dgm:t>
        <a:bodyPr/>
        <a:lstStyle/>
        <a:p>
          <a:endParaRPr lang="en-GB"/>
        </a:p>
      </dgm:t>
    </dgm:pt>
    <dgm:pt modelId="{32F48A91-864C-4C3B-9D70-4A62E74CB22B}">
      <dgm:prSet/>
      <dgm:spPr/>
      <dgm:t>
        <a:bodyPr/>
        <a:lstStyle/>
        <a:p>
          <a:pPr>
            <a:buNone/>
          </a:pPr>
          <a:r>
            <a:rPr lang="en-GB" dirty="0"/>
            <a:t>A lightweight module </a:t>
          </a:r>
        </a:p>
        <a:p>
          <a:pPr>
            <a:buNone/>
          </a:pPr>
          <a:r>
            <a:rPr lang="en-GB" dirty="0"/>
            <a:t>(e.g., MLP or cross-attention)</a:t>
          </a:r>
        </a:p>
      </dgm:t>
    </dgm:pt>
    <dgm:pt modelId="{FA8D266C-537C-4C0B-A23F-9479B4DE47B1}" type="parTrans" cxnId="{88279693-E7DA-4BDB-B632-9821577FA1C3}">
      <dgm:prSet/>
      <dgm:spPr/>
      <dgm:t>
        <a:bodyPr/>
        <a:lstStyle/>
        <a:p>
          <a:endParaRPr lang="en-GB"/>
        </a:p>
      </dgm:t>
    </dgm:pt>
    <dgm:pt modelId="{988DC6B8-A2CE-4E65-9200-70933C9B8139}" type="sibTrans" cxnId="{88279693-E7DA-4BDB-B632-9821577FA1C3}">
      <dgm:prSet/>
      <dgm:spPr/>
      <dgm:t>
        <a:bodyPr/>
        <a:lstStyle/>
        <a:p>
          <a:endParaRPr lang="en-GB"/>
        </a:p>
      </dgm:t>
    </dgm:pt>
    <dgm:pt modelId="{BFA36F5B-87BF-4F06-A8EF-493C972B815B}">
      <dgm:prSet/>
      <dgm:spPr/>
      <dgm:t>
        <a:bodyPr/>
        <a:lstStyle/>
        <a:p>
          <a:pPr>
            <a:buNone/>
          </a:pPr>
          <a:r>
            <a:rPr lang="en-GB" dirty="0"/>
            <a:t>It maps vision features </a:t>
          </a:r>
        </a:p>
        <a:p>
          <a:pPr>
            <a:buNone/>
          </a:pPr>
          <a:r>
            <a:rPr lang="en-GB" dirty="0"/>
            <a:t>to language token space</a:t>
          </a:r>
        </a:p>
      </dgm:t>
    </dgm:pt>
    <dgm:pt modelId="{B2DA80AC-8EBB-4618-B38E-15B6A7E06A36}" type="parTrans" cxnId="{307E1493-244B-4A0E-A112-D0815D5DA1D2}">
      <dgm:prSet/>
      <dgm:spPr/>
      <dgm:t>
        <a:bodyPr/>
        <a:lstStyle/>
        <a:p>
          <a:endParaRPr lang="en-GB"/>
        </a:p>
      </dgm:t>
    </dgm:pt>
    <dgm:pt modelId="{EABBA7E8-E591-4307-B5BD-75F502E09B24}" type="sibTrans" cxnId="{307E1493-244B-4A0E-A112-D0815D5DA1D2}">
      <dgm:prSet/>
      <dgm:spPr/>
      <dgm:t>
        <a:bodyPr/>
        <a:lstStyle/>
        <a:p>
          <a:endParaRPr lang="en-GB"/>
        </a:p>
      </dgm:t>
    </dgm:pt>
    <dgm:pt modelId="{38C15083-06C1-4CA1-92D9-F0889CA81EF3}" type="pres">
      <dgm:prSet presAssocID="{4D83153F-4D49-4ED2-95FF-B2C5604E12A0}" presName="Name0" presStyleCnt="0">
        <dgm:presLayoutVars>
          <dgm:dir/>
          <dgm:animLvl val="lvl"/>
          <dgm:resizeHandles val="exact"/>
        </dgm:presLayoutVars>
      </dgm:prSet>
      <dgm:spPr/>
    </dgm:pt>
    <dgm:pt modelId="{49C47544-4D3B-4295-8178-DB0562AA752B}" type="pres">
      <dgm:prSet presAssocID="{069A2A5B-E7AD-4658-9537-07A9F21939B3}" presName="boxAndChildren" presStyleCnt="0"/>
      <dgm:spPr/>
    </dgm:pt>
    <dgm:pt modelId="{7EC9ACC4-4089-4C6D-9681-6FCA0C3B8762}" type="pres">
      <dgm:prSet presAssocID="{069A2A5B-E7AD-4658-9537-07A9F21939B3}" presName="parentTextBox" presStyleLbl="node1" presStyleIdx="0" presStyleCnt="3"/>
      <dgm:spPr/>
    </dgm:pt>
    <dgm:pt modelId="{533DB875-0C35-48E2-AB23-1EA99FF92F84}" type="pres">
      <dgm:prSet presAssocID="{069A2A5B-E7AD-4658-9537-07A9F21939B3}" presName="entireBox" presStyleLbl="node1" presStyleIdx="0" presStyleCnt="3"/>
      <dgm:spPr/>
    </dgm:pt>
    <dgm:pt modelId="{5C69AEC3-2AB8-4957-B302-60DF0EFBD0EA}" type="pres">
      <dgm:prSet presAssocID="{069A2A5B-E7AD-4658-9537-07A9F21939B3}" presName="descendantBox" presStyleCnt="0"/>
      <dgm:spPr/>
    </dgm:pt>
    <dgm:pt modelId="{063F7A34-9D6E-49F4-80B5-4FF71B37D0CE}" type="pres">
      <dgm:prSet presAssocID="{32F48A91-864C-4C3B-9D70-4A62E74CB22B}" presName="childTextBox" presStyleLbl="fgAccFollowNode1" presStyleIdx="0" presStyleCnt="6">
        <dgm:presLayoutVars>
          <dgm:bulletEnabled val="1"/>
        </dgm:presLayoutVars>
      </dgm:prSet>
      <dgm:spPr/>
    </dgm:pt>
    <dgm:pt modelId="{87710CA8-4524-44E0-A702-B1946081D3C1}" type="pres">
      <dgm:prSet presAssocID="{BFA36F5B-87BF-4F06-A8EF-493C972B815B}" presName="childTextBox" presStyleLbl="fgAccFollowNode1" presStyleIdx="1" presStyleCnt="6">
        <dgm:presLayoutVars>
          <dgm:bulletEnabled val="1"/>
        </dgm:presLayoutVars>
      </dgm:prSet>
      <dgm:spPr/>
    </dgm:pt>
    <dgm:pt modelId="{7CA19983-7DA3-4916-B7D7-8339A7FF0506}" type="pres">
      <dgm:prSet presAssocID="{4A8A5916-A948-46CB-B27B-01F8EE34E471}" presName="sp" presStyleCnt="0"/>
      <dgm:spPr/>
    </dgm:pt>
    <dgm:pt modelId="{5DF4939B-7A84-4BF9-AA34-87DFEFEB1268}" type="pres">
      <dgm:prSet presAssocID="{681E7474-2F1F-4E0E-849F-762286E0E3CA}" presName="arrowAndChildren" presStyleCnt="0"/>
      <dgm:spPr/>
    </dgm:pt>
    <dgm:pt modelId="{446D0DFF-92C0-479E-AB10-A93731AFF7BE}" type="pres">
      <dgm:prSet presAssocID="{681E7474-2F1F-4E0E-849F-762286E0E3CA}" presName="parentTextArrow" presStyleLbl="node1" presStyleIdx="0" presStyleCnt="3"/>
      <dgm:spPr/>
    </dgm:pt>
    <dgm:pt modelId="{40DFD775-B114-446F-B4A3-21CBE70C92CF}" type="pres">
      <dgm:prSet presAssocID="{681E7474-2F1F-4E0E-849F-762286E0E3CA}" presName="arrow" presStyleLbl="node1" presStyleIdx="1" presStyleCnt="3"/>
      <dgm:spPr/>
    </dgm:pt>
    <dgm:pt modelId="{2FFB1BD3-41F9-46FC-9E43-17EB40B9BD3A}" type="pres">
      <dgm:prSet presAssocID="{681E7474-2F1F-4E0E-849F-762286E0E3CA}" presName="descendantArrow" presStyleCnt="0"/>
      <dgm:spPr/>
    </dgm:pt>
    <dgm:pt modelId="{4996DD2D-33B9-4663-ABFF-185D41FD4292}" type="pres">
      <dgm:prSet presAssocID="{552B1DF3-A662-40CE-A44E-4BD597C2761B}" presName="childTextArrow" presStyleLbl="fgAccFollowNode1" presStyleIdx="2" presStyleCnt="6">
        <dgm:presLayoutVars>
          <dgm:bulletEnabled val="1"/>
        </dgm:presLayoutVars>
      </dgm:prSet>
      <dgm:spPr/>
    </dgm:pt>
    <dgm:pt modelId="{1B9B583C-28F7-434C-82CA-ED5D0791B81E}" type="pres">
      <dgm:prSet presAssocID="{5F489ABA-B802-4473-B4C8-65D73A8D4D3B}" presName="childTextArrow" presStyleLbl="fgAccFollowNode1" presStyleIdx="3" presStyleCnt="6">
        <dgm:presLayoutVars>
          <dgm:bulletEnabled val="1"/>
        </dgm:presLayoutVars>
      </dgm:prSet>
      <dgm:spPr/>
    </dgm:pt>
    <dgm:pt modelId="{724FF625-6F98-47F4-95C2-2DEB83AEF124}" type="pres">
      <dgm:prSet presAssocID="{98C5EF2F-25C1-4AD3-8E46-0D59E2FE6471}" presName="sp" presStyleCnt="0"/>
      <dgm:spPr/>
    </dgm:pt>
    <dgm:pt modelId="{5B07D859-FC60-449E-BDA7-824C8625ED8D}" type="pres">
      <dgm:prSet presAssocID="{FDFC5B26-D331-4F3E-A0E5-57AE27FD5CE4}" presName="arrowAndChildren" presStyleCnt="0"/>
      <dgm:spPr/>
    </dgm:pt>
    <dgm:pt modelId="{BF4059E4-E5F3-4892-8EEB-3777D72DBA0A}" type="pres">
      <dgm:prSet presAssocID="{FDFC5B26-D331-4F3E-A0E5-57AE27FD5CE4}" presName="parentTextArrow" presStyleLbl="node1" presStyleIdx="1" presStyleCnt="3"/>
      <dgm:spPr/>
    </dgm:pt>
    <dgm:pt modelId="{8FFD2812-4574-4E65-87D2-BF9DBD9480EC}" type="pres">
      <dgm:prSet presAssocID="{FDFC5B26-D331-4F3E-A0E5-57AE27FD5CE4}" presName="arrow" presStyleLbl="node1" presStyleIdx="2" presStyleCnt="3"/>
      <dgm:spPr/>
    </dgm:pt>
    <dgm:pt modelId="{F2AE4A12-F1C3-4E59-B34B-082A6CE66B0A}" type="pres">
      <dgm:prSet presAssocID="{FDFC5B26-D331-4F3E-A0E5-57AE27FD5CE4}" presName="descendantArrow" presStyleCnt="0"/>
      <dgm:spPr/>
    </dgm:pt>
    <dgm:pt modelId="{6AE1BF1B-5528-4A3A-ABFE-B6546B290E72}" type="pres">
      <dgm:prSet presAssocID="{C0404112-BF1A-4BF2-A648-6ACF05A3E931}" presName="childTextArrow" presStyleLbl="fgAccFollowNode1" presStyleIdx="4" presStyleCnt="6">
        <dgm:presLayoutVars>
          <dgm:bulletEnabled val="1"/>
        </dgm:presLayoutVars>
      </dgm:prSet>
      <dgm:spPr/>
    </dgm:pt>
    <dgm:pt modelId="{D1F64AA6-CC16-4438-8A41-CA69D04C4182}" type="pres">
      <dgm:prSet presAssocID="{C4408353-8854-4276-A466-9CEE7B224B9E}" presName="childTextArrow" presStyleLbl="fgAccFollowNode1" presStyleIdx="5" presStyleCnt="6">
        <dgm:presLayoutVars>
          <dgm:bulletEnabled val="1"/>
        </dgm:presLayoutVars>
      </dgm:prSet>
      <dgm:spPr/>
    </dgm:pt>
  </dgm:ptLst>
  <dgm:cxnLst>
    <dgm:cxn modelId="{F7395D12-3D2C-4985-89D6-81586BAAFB35}" type="presOf" srcId="{FDFC5B26-D331-4F3E-A0E5-57AE27FD5CE4}" destId="{BF4059E4-E5F3-4892-8EEB-3777D72DBA0A}" srcOrd="0" destOrd="0" presId="urn:microsoft.com/office/officeart/2005/8/layout/process4"/>
    <dgm:cxn modelId="{BA6FAB17-9284-4B97-84B3-0741482E904E}" type="presOf" srcId="{681E7474-2F1F-4E0E-849F-762286E0E3CA}" destId="{40DFD775-B114-446F-B4A3-21CBE70C92CF}" srcOrd="1" destOrd="0" presId="urn:microsoft.com/office/officeart/2005/8/layout/process4"/>
    <dgm:cxn modelId="{E2685F1B-E069-4F5E-A5B7-83E02B6ED3C3}" type="presOf" srcId="{FDFC5B26-D331-4F3E-A0E5-57AE27FD5CE4}" destId="{8FFD2812-4574-4E65-87D2-BF9DBD9480EC}" srcOrd="1" destOrd="0" presId="urn:microsoft.com/office/officeart/2005/8/layout/process4"/>
    <dgm:cxn modelId="{43B48B23-617C-4974-B2CA-217AB248B1F0}" srcId="{4D83153F-4D49-4ED2-95FF-B2C5604E12A0}" destId="{681E7474-2F1F-4E0E-849F-762286E0E3CA}" srcOrd="1" destOrd="0" parTransId="{E74734E5-7429-4130-85E3-9EE8429B7E7D}" sibTransId="{4A8A5916-A948-46CB-B27B-01F8EE34E471}"/>
    <dgm:cxn modelId="{1319A732-543E-44A6-A418-F0265D29F84D}" type="presOf" srcId="{069A2A5B-E7AD-4658-9537-07A9F21939B3}" destId="{7EC9ACC4-4089-4C6D-9681-6FCA0C3B8762}" srcOrd="0" destOrd="0" presId="urn:microsoft.com/office/officeart/2005/8/layout/process4"/>
    <dgm:cxn modelId="{1F1D9140-E33C-4582-BA77-EE95F0F8FA1B}" type="presOf" srcId="{BFA36F5B-87BF-4F06-A8EF-493C972B815B}" destId="{87710CA8-4524-44E0-A702-B1946081D3C1}" srcOrd="0" destOrd="0" presId="urn:microsoft.com/office/officeart/2005/8/layout/process4"/>
    <dgm:cxn modelId="{0C48D54E-5D52-46E8-BBB5-6277B60867B0}" type="presOf" srcId="{C4408353-8854-4276-A466-9CEE7B224B9E}" destId="{D1F64AA6-CC16-4438-8A41-CA69D04C4182}" srcOrd="0" destOrd="0" presId="urn:microsoft.com/office/officeart/2005/8/layout/process4"/>
    <dgm:cxn modelId="{45BDCF50-6C3C-4D00-8FD0-1EFE819E90EF}" type="presOf" srcId="{4D83153F-4D49-4ED2-95FF-B2C5604E12A0}" destId="{38C15083-06C1-4CA1-92D9-F0889CA81EF3}" srcOrd="0" destOrd="0" presId="urn:microsoft.com/office/officeart/2005/8/layout/process4"/>
    <dgm:cxn modelId="{8764DD75-0ABD-4849-8A05-9E97CBEE8871}" srcId="{4D83153F-4D49-4ED2-95FF-B2C5604E12A0}" destId="{FDFC5B26-D331-4F3E-A0E5-57AE27FD5CE4}" srcOrd="0" destOrd="0" parTransId="{3358B53B-E790-4BB1-B6DF-85317BF2FCC8}" sibTransId="{98C5EF2F-25C1-4AD3-8E46-0D59E2FE6471}"/>
    <dgm:cxn modelId="{1200C07A-35C6-4E2F-9AE8-9EBE88102B20}" type="presOf" srcId="{681E7474-2F1F-4E0E-849F-762286E0E3CA}" destId="{446D0DFF-92C0-479E-AB10-A93731AFF7BE}" srcOrd="0" destOrd="0" presId="urn:microsoft.com/office/officeart/2005/8/layout/process4"/>
    <dgm:cxn modelId="{8E23F27C-085A-4427-9AEB-797989BD0559}" srcId="{FDFC5B26-D331-4F3E-A0E5-57AE27FD5CE4}" destId="{C0404112-BF1A-4BF2-A648-6ACF05A3E931}" srcOrd="0" destOrd="0" parTransId="{C84C717E-44EE-4282-94C3-17241E50CCB5}" sibTransId="{10B69115-DE2A-4B1E-BF44-8CDECF1D284B}"/>
    <dgm:cxn modelId="{9D12A08D-1000-4453-B8AD-4132F3C986A8}" type="presOf" srcId="{552B1DF3-A662-40CE-A44E-4BD597C2761B}" destId="{4996DD2D-33B9-4663-ABFF-185D41FD4292}" srcOrd="0" destOrd="0" presId="urn:microsoft.com/office/officeart/2005/8/layout/process4"/>
    <dgm:cxn modelId="{307E1493-244B-4A0E-A112-D0815D5DA1D2}" srcId="{069A2A5B-E7AD-4658-9537-07A9F21939B3}" destId="{BFA36F5B-87BF-4F06-A8EF-493C972B815B}" srcOrd="1" destOrd="0" parTransId="{B2DA80AC-8EBB-4618-B38E-15B6A7E06A36}" sibTransId="{EABBA7E8-E591-4307-B5BD-75F502E09B24}"/>
    <dgm:cxn modelId="{88279693-E7DA-4BDB-B632-9821577FA1C3}" srcId="{069A2A5B-E7AD-4658-9537-07A9F21939B3}" destId="{32F48A91-864C-4C3B-9D70-4A62E74CB22B}" srcOrd="0" destOrd="0" parTransId="{FA8D266C-537C-4C0B-A23F-9479B4DE47B1}" sibTransId="{988DC6B8-A2CE-4E65-9200-70933C9B8139}"/>
    <dgm:cxn modelId="{F4609394-D06F-4462-A5DC-BE5BA22C3A44}" type="presOf" srcId="{32F48A91-864C-4C3B-9D70-4A62E74CB22B}" destId="{063F7A34-9D6E-49F4-80B5-4FF71B37D0CE}" srcOrd="0" destOrd="0" presId="urn:microsoft.com/office/officeart/2005/8/layout/process4"/>
    <dgm:cxn modelId="{2D4C52AB-E06D-46CE-9886-55B4A33521D0}" srcId="{681E7474-2F1F-4E0E-849F-762286E0E3CA}" destId="{552B1DF3-A662-40CE-A44E-4BD597C2761B}" srcOrd="0" destOrd="0" parTransId="{77F0B340-D265-4713-B67E-8679845FFCE5}" sibTransId="{A8F69C8B-9BC0-418B-ACE0-3C73376ECC50}"/>
    <dgm:cxn modelId="{AD689ABF-485F-4D17-BEAB-5318C899F65C}" type="presOf" srcId="{C0404112-BF1A-4BF2-A648-6ACF05A3E931}" destId="{6AE1BF1B-5528-4A3A-ABFE-B6546B290E72}" srcOrd="0" destOrd="0" presId="urn:microsoft.com/office/officeart/2005/8/layout/process4"/>
    <dgm:cxn modelId="{938A90D6-2ACA-4B6D-B11E-1C073FE68FE8}" type="presOf" srcId="{5F489ABA-B802-4473-B4C8-65D73A8D4D3B}" destId="{1B9B583C-28F7-434C-82CA-ED5D0791B81E}" srcOrd="0" destOrd="0" presId="urn:microsoft.com/office/officeart/2005/8/layout/process4"/>
    <dgm:cxn modelId="{B6A6F8DD-0EFB-4862-9AD4-CB8C9FCE8AD1}" srcId="{4D83153F-4D49-4ED2-95FF-B2C5604E12A0}" destId="{069A2A5B-E7AD-4658-9537-07A9F21939B3}" srcOrd="2" destOrd="0" parTransId="{8D835E82-C971-4790-82CF-9286DC278780}" sibTransId="{1A19F5F4-07EB-479E-B6DE-520D401BCE6C}"/>
    <dgm:cxn modelId="{8426C8E2-A7EB-4A17-8EEF-7575E4B3A321}" srcId="{681E7474-2F1F-4E0E-849F-762286E0E3CA}" destId="{5F489ABA-B802-4473-B4C8-65D73A8D4D3B}" srcOrd="1" destOrd="0" parTransId="{30B95DAD-07BB-45E4-BBAF-9AE56D78EE72}" sibTransId="{192D6212-7546-420A-AF03-480C26A546B8}"/>
    <dgm:cxn modelId="{002E0BEB-7099-42FF-9CD7-CDC5A404498B}" srcId="{FDFC5B26-D331-4F3E-A0E5-57AE27FD5CE4}" destId="{C4408353-8854-4276-A466-9CEE7B224B9E}" srcOrd="1" destOrd="0" parTransId="{6D8D987E-9BD0-45FD-AC34-FD203C0BF1EA}" sibTransId="{DD115441-AE99-483C-A7FE-C727B9CB788B}"/>
    <dgm:cxn modelId="{33CFF2F7-3C4D-48FF-ACEC-AC79F7008778}" type="presOf" srcId="{069A2A5B-E7AD-4658-9537-07A9F21939B3}" destId="{533DB875-0C35-48E2-AB23-1EA99FF92F84}" srcOrd="1" destOrd="0" presId="urn:microsoft.com/office/officeart/2005/8/layout/process4"/>
    <dgm:cxn modelId="{9BBA7867-31B6-4C38-9F83-EB3A74403FCA}" type="presParOf" srcId="{38C15083-06C1-4CA1-92D9-F0889CA81EF3}" destId="{49C47544-4D3B-4295-8178-DB0562AA752B}" srcOrd="0" destOrd="0" presId="urn:microsoft.com/office/officeart/2005/8/layout/process4"/>
    <dgm:cxn modelId="{0DBFC4A1-FA31-40A1-A7F2-FD625363F50E}" type="presParOf" srcId="{49C47544-4D3B-4295-8178-DB0562AA752B}" destId="{7EC9ACC4-4089-4C6D-9681-6FCA0C3B8762}" srcOrd="0" destOrd="0" presId="urn:microsoft.com/office/officeart/2005/8/layout/process4"/>
    <dgm:cxn modelId="{4EFB0C69-21A4-4607-962D-29AAC6EB65C9}" type="presParOf" srcId="{49C47544-4D3B-4295-8178-DB0562AA752B}" destId="{533DB875-0C35-48E2-AB23-1EA99FF92F84}" srcOrd="1" destOrd="0" presId="urn:microsoft.com/office/officeart/2005/8/layout/process4"/>
    <dgm:cxn modelId="{33A841E8-A562-4793-80EB-9081C9A75AFB}" type="presParOf" srcId="{49C47544-4D3B-4295-8178-DB0562AA752B}" destId="{5C69AEC3-2AB8-4957-B302-60DF0EFBD0EA}" srcOrd="2" destOrd="0" presId="urn:microsoft.com/office/officeart/2005/8/layout/process4"/>
    <dgm:cxn modelId="{EBE0DBD3-856E-40A3-9183-4DFB6493E822}" type="presParOf" srcId="{5C69AEC3-2AB8-4957-B302-60DF0EFBD0EA}" destId="{063F7A34-9D6E-49F4-80B5-4FF71B37D0CE}" srcOrd="0" destOrd="0" presId="urn:microsoft.com/office/officeart/2005/8/layout/process4"/>
    <dgm:cxn modelId="{A34F1C57-8175-46C1-BD7F-BEAE3EBA379F}" type="presParOf" srcId="{5C69AEC3-2AB8-4957-B302-60DF0EFBD0EA}" destId="{87710CA8-4524-44E0-A702-B1946081D3C1}" srcOrd="1" destOrd="0" presId="urn:microsoft.com/office/officeart/2005/8/layout/process4"/>
    <dgm:cxn modelId="{D81138FB-F4D4-4563-B792-141E3B24D130}" type="presParOf" srcId="{38C15083-06C1-4CA1-92D9-F0889CA81EF3}" destId="{7CA19983-7DA3-4916-B7D7-8339A7FF0506}" srcOrd="1" destOrd="0" presId="urn:microsoft.com/office/officeart/2005/8/layout/process4"/>
    <dgm:cxn modelId="{7BA212A3-6382-49BE-9690-821477B439C8}" type="presParOf" srcId="{38C15083-06C1-4CA1-92D9-F0889CA81EF3}" destId="{5DF4939B-7A84-4BF9-AA34-87DFEFEB1268}" srcOrd="2" destOrd="0" presId="urn:microsoft.com/office/officeart/2005/8/layout/process4"/>
    <dgm:cxn modelId="{AC739BF6-C21A-4CE8-AF0E-90C8BCEE810B}" type="presParOf" srcId="{5DF4939B-7A84-4BF9-AA34-87DFEFEB1268}" destId="{446D0DFF-92C0-479E-AB10-A93731AFF7BE}" srcOrd="0" destOrd="0" presId="urn:microsoft.com/office/officeart/2005/8/layout/process4"/>
    <dgm:cxn modelId="{9A674873-1903-4439-8E9D-C0743950B5F2}" type="presParOf" srcId="{5DF4939B-7A84-4BF9-AA34-87DFEFEB1268}" destId="{40DFD775-B114-446F-B4A3-21CBE70C92CF}" srcOrd="1" destOrd="0" presId="urn:microsoft.com/office/officeart/2005/8/layout/process4"/>
    <dgm:cxn modelId="{85439E87-C809-42AE-8546-880FC1B63478}" type="presParOf" srcId="{5DF4939B-7A84-4BF9-AA34-87DFEFEB1268}" destId="{2FFB1BD3-41F9-46FC-9E43-17EB40B9BD3A}" srcOrd="2" destOrd="0" presId="urn:microsoft.com/office/officeart/2005/8/layout/process4"/>
    <dgm:cxn modelId="{DE92AE08-0DAD-49E2-B342-AF2BD3EA4068}" type="presParOf" srcId="{2FFB1BD3-41F9-46FC-9E43-17EB40B9BD3A}" destId="{4996DD2D-33B9-4663-ABFF-185D41FD4292}" srcOrd="0" destOrd="0" presId="urn:microsoft.com/office/officeart/2005/8/layout/process4"/>
    <dgm:cxn modelId="{8F7B6A7A-0927-43A3-8831-01DE55427BC6}" type="presParOf" srcId="{2FFB1BD3-41F9-46FC-9E43-17EB40B9BD3A}" destId="{1B9B583C-28F7-434C-82CA-ED5D0791B81E}" srcOrd="1" destOrd="0" presId="urn:microsoft.com/office/officeart/2005/8/layout/process4"/>
    <dgm:cxn modelId="{BA46D211-54D5-420B-A75C-06E187B868F0}" type="presParOf" srcId="{38C15083-06C1-4CA1-92D9-F0889CA81EF3}" destId="{724FF625-6F98-47F4-95C2-2DEB83AEF124}" srcOrd="3" destOrd="0" presId="urn:microsoft.com/office/officeart/2005/8/layout/process4"/>
    <dgm:cxn modelId="{6CB06B1F-3940-4327-A5E8-D8F7763EC4D9}" type="presParOf" srcId="{38C15083-06C1-4CA1-92D9-F0889CA81EF3}" destId="{5B07D859-FC60-449E-BDA7-824C8625ED8D}" srcOrd="4" destOrd="0" presId="urn:microsoft.com/office/officeart/2005/8/layout/process4"/>
    <dgm:cxn modelId="{AC178531-E742-4964-8D4F-FAE70ED5A9F0}" type="presParOf" srcId="{5B07D859-FC60-449E-BDA7-824C8625ED8D}" destId="{BF4059E4-E5F3-4892-8EEB-3777D72DBA0A}" srcOrd="0" destOrd="0" presId="urn:microsoft.com/office/officeart/2005/8/layout/process4"/>
    <dgm:cxn modelId="{749EB20F-6CCA-4533-9D1B-11DC11226CEF}" type="presParOf" srcId="{5B07D859-FC60-449E-BDA7-824C8625ED8D}" destId="{8FFD2812-4574-4E65-87D2-BF9DBD9480EC}" srcOrd="1" destOrd="0" presId="urn:microsoft.com/office/officeart/2005/8/layout/process4"/>
    <dgm:cxn modelId="{52C54952-1CD0-4D24-AD70-10C7F22F4955}" type="presParOf" srcId="{5B07D859-FC60-449E-BDA7-824C8625ED8D}" destId="{F2AE4A12-F1C3-4E59-B34B-082A6CE66B0A}" srcOrd="2" destOrd="0" presId="urn:microsoft.com/office/officeart/2005/8/layout/process4"/>
    <dgm:cxn modelId="{1E59909B-B220-4312-A80B-559A0A0C5147}" type="presParOf" srcId="{F2AE4A12-F1C3-4E59-B34B-082A6CE66B0A}" destId="{6AE1BF1B-5528-4A3A-ABFE-B6546B290E72}" srcOrd="0" destOrd="0" presId="urn:microsoft.com/office/officeart/2005/8/layout/process4"/>
    <dgm:cxn modelId="{4E5266F2-E157-4014-8EBC-C22B1FF75A32}" type="presParOf" srcId="{F2AE4A12-F1C3-4E59-B34B-082A6CE66B0A}" destId="{D1F64AA6-CC16-4438-8A41-CA69D04C4182}" srcOrd="1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03C51F-A0AA-4FDD-BCE8-EB48429F9425}">
      <dsp:nvSpPr>
        <dsp:cNvPr id="0" name=""/>
        <dsp:cNvSpPr/>
      </dsp:nvSpPr>
      <dsp:spPr>
        <a:xfrm rot="5400000">
          <a:off x="5950068" y="-2426988"/>
          <a:ext cx="950904" cy="6047549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 dirty="0">
              <a:sym typeface="Wingdings" panose="05000000000000000000" pitchFamily="2" charset="2"/>
            </a:rPr>
            <a:t>Metrics for Natural Language Generation (NLG)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 dirty="0">
              <a:sym typeface="Wingdings" panose="05000000000000000000" pitchFamily="2" charset="2"/>
            </a:rPr>
            <a:t>Real-world use cases (MT, QA with RAG)</a:t>
          </a:r>
        </a:p>
      </dsp:txBody>
      <dsp:txXfrm rot="-5400000">
        <a:off x="3401746" y="167753"/>
        <a:ext cx="6001130" cy="858066"/>
      </dsp:txXfrm>
    </dsp:sp>
    <dsp:sp modelId="{D2D95DBE-29CF-4946-89A9-505D28192EAD}">
      <dsp:nvSpPr>
        <dsp:cNvPr id="0" name=""/>
        <dsp:cNvSpPr/>
      </dsp:nvSpPr>
      <dsp:spPr>
        <a:xfrm>
          <a:off x="0" y="2471"/>
          <a:ext cx="3401746" cy="1188630"/>
        </a:xfrm>
        <a:prstGeom prst="round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0" tIns="114300" rIns="228600" bIns="11430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GB" sz="6000" b="1" kern="1200" dirty="0"/>
            <a:t>Lab 1</a:t>
          </a:r>
          <a:endParaRPr lang="en-GB" sz="6000" kern="1200" dirty="0"/>
        </a:p>
      </dsp:txBody>
      <dsp:txXfrm>
        <a:off x="58024" y="60495"/>
        <a:ext cx="3285698" cy="1072582"/>
      </dsp:txXfrm>
    </dsp:sp>
    <dsp:sp modelId="{6A911036-7D2C-451D-B2DB-6F0BF0898267}">
      <dsp:nvSpPr>
        <dsp:cNvPr id="0" name=""/>
        <dsp:cNvSpPr/>
      </dsp:nvSpPr>
      <dsp:spPr>
        <a:xfrm rot="5400000">
          <a:off x="5950068" y="-1178925"/>
          <a:ext cx="950904" cy="6047549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 dirty="0">
              <a:sym typeface="Wingdings" panose="05000000000000000000" pitchFamily="2" charset="2"/>
            </a:rPr>
            <a:t>Extract latent features from LLM embeddings by training a classification model</a:t>
          </a:r>
        </a:p>
      </dsp:txBody>
      <dsp:txXfrm rot="-5400000">
        <a:off x="3401746" y="1415816"/>
        <a:ext cx="6001130" cy="858066"/>
      </dsp:txXfrm>
    </dsp:sp>
    <dsp:sp modelId="{930D32B7-497C-49CE-9A7A-D9C21BD5A0CA}">
      <dsp:nvSpPr>
        <dsp:cNvPr id="0" name=""/>
        <dsp:cNvSpPr/>
      </dsp:nvSpPr>
      <dsp:spPr>
        <a:xfrm>
          <a:off x="0" y="1250533"/>
          <a:ext cx="3401746" cy="1188630"/>
        </a:xfrm>
        <a:prstGeom prst="roundRect">
          <a:avLst/>
        </a:prstGeom>
        <a:solidFill>
          <a:schemeClr val="accent2">
            <a:shade val="80000"/>
            <a:hueOff val="-151668"/>
            <a:satOff val="2837"/>
            <a:lumOff val="904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0" tIns="114300" rIns="228600" bIns="11430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0" b="1" kern="1200" dirty="0">
              <a:sym typeface="Wingdings" panose="05000000000000000000" pitchFamily="2" charset="2"/>
            </a:rPr>
            <a:t>Lab 2</a:t>
          </a:r>
          <a:endParaRPr lang="en-GB" sz="6000" b="0" kern="1200" dirty="0">
            <a:sym typeface="Wingdings" panose="05000000000000000000" pitchFamily="2" charset="2"/>
          </a:endParaRPr>
        </a:p>
      </dsp:txBody>
      <dsp:txXfrm>
        <a:off x="58024" y="1308557"/>
        <a:ext cx="3285698" cy="1072582"/>
      </dsp:txXfrm>
    </dsp:sp>
    <dsp:sp modelId="{C117354A-7087-430D-954A-AD768EC743FE}">
      <dsp:nvSpPr>
        <dsp:cNvPr id="0" name=""/>
        <dsp:cNvSpPr/>
      </dsp:nvSpPr>
      <dsp:spPr>
        <a:xfrm rot="5400000">
          <a:off x="5950068" y="69136"/>
          <a:ext cx="950904" cy="6047549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 dirty="0">
              <a:sym typeface="Wingdings" panose="05000000000000000000" pitchFamily="2" charset="2"/>
            </a:rPr>
            <a:t>Generate video captions using:</a:t>
          </a:r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lphaLcParenR"/>
          </a:pPr>
          <a:r>
            <a:rPr lang="en-GB" sz="1700" kern="1200" dirty="0">
              <a:sym typeface="Wingdings" panose="05000000000000000000" pitchFamily="2" charset="2"/>
            </a:rPr>
            <a:t> CLIP-inspired models </a:t>
          </a:r>
          <a:r>
            <a:rPr lang="en-GB" sz="1700" b="0" kern="1200" dirty="0">
              <a:sym typeface="Wingdings" panose="05000000000000000000" pitchFamily="2" charset="2"/>
            </a:rPr>
            <a:t>(</a:t>
          </a:r>
          <a:r>
            <a:rPr lang="en-GB" sz="1700" b="1" kern="1200" dirty="0">
              <a:sym typeface="Wingdings" panose="05000000000000000000" pitchFamily="2" charset="2"/>
            </a:rPr>
            <a:t>Co</a:t>
          </a:r>
          <a:r>
            <a:rPr lang="en-GB" sz="1700" b="0" i="0" kern="1200" dirty="0"/>
            <a:t>ntrastive </a:t>
          </a:r>
          <a:r>
            <a:rPr lang="en-GB" sz="1700" b="1" i="0" u="none" kern="1200" dirty="0"/>
            <a:t>Ca</a:t>
          </a:r>
          <a:r>
            <a:rPr lang="en-GB" sz="1700" b="0" i="0" kern="1200" dirty="0"/>
            <a:t>ptioners)</a:t>
          </a:r>
          <a:endParaRPr lang="en-GB" sz="1700" kern="1200" dirty="0">
            <a:sym typeface="Wingdings" panose="05000000000000000000" pitchFamily="2" charset="2"/>
          </a:endParaRPr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lphaLcParenR"/>
          </a:pPr>
          <a:r>
            <a:rPr lang="en-GB" sz="1700" b="0" i="0" kern="1200" dirty="0"/>
            <a:t> Vision-Language Models (</a:t>
          </a:r>
          <a:r>
            <a:rPr lang="en-GB" sz="1700" b="1" kern="1200" dirty="0">
              <a:sym typeface="Wingdings" panose="05000000000000000000" pitchFamily="2" charset="2"/>
            </a:rPr>
            <a:t>VLMs</a:t>
          </a:r>
          <a:r>
            <a:rPr lang="en-GB" sz="1700" kern="1200" dirty="0">
              <a:sym typeface="Wingdings" panose="05000000000000000000" pitchFamily="2" charset="2"/>
            </a:rPr>
            <a:t>)</a:t>
          </a:r>
        </a:p>
      </dsp:txBody>
      <dsp:txXfrm rot="-5400000">
        <a:off x="3401746" y="2663878"/>
        <a:ext cx="6001130" cy="858066"/>
      </dsp:txXfrm>
    </dsp:sp>
    <dsp:sp modelId="{0BF88898-2EBC-4BA2-AD7B-929448E6CACB}">
      <dsp:nvSpPr>
        <dsp:cNvPr id="0" name=""/>
        <dsp:cNvSpPr/>
      </dsp:nvSpPr>
      <dsp:spPr>
        <a:xfrm>
          <a:off x="0" y="2498595"/>
          <a:ext cx="3401746" cy="1188630"/>
        </a:xfrm>
        <a:prstGeom prst="roundRect">
          <a:avLst/>
        </a:prstGeom>
        <a:solidFill>
          <a:schemeClr val="accent2">
            <a:shade val="80000"/>
            <a:hueOff val="-303336"/>
            <a:satOff val="5673"/>
            <a:lumOff val="180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0" tIns="114300" rIns="228600" bIns="11430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0" b="1" kern="1200" dirty="0">
              <a:sym typeface="Wingdings" panose="05000000000000000000" pitchFamily="2" charset="2"/>
            </a:rPr>
            <a:t>Lab 3</a:t>
          </a:r>
          <a:endParaRPr lang="en-GB" sz="6000" kern="1200" dirty="0">
            <a:sym typeface="Wingdings" panose="05000000000000000000" pitchFamily="2" charset="2"/>
          </a:endParaRPr>
        </a:p>
      </dsp:txBody>
      <dsp:txXfrm>
        <a:off x="58024" y="2556619"/>
        <a:ext cx="3285698" cy="1072582"/>
      </dsp:txXfrm>
    </dsp:sp>
    <dsp:sp modelId="{1CE57D84-950D-4B08-A19A-F8C337F519E7}">
      <dsp:nvSpPr>
        <dsp:cNvPr id="0" name=""/>
        <dsp:cNvSpPr/>
      </dsp:nvSpPr>
      <dsp:spPr>
        <a:xfrm rot="5400000">
          <a:off x="5950068" y="1317198"/>
          <a:ext cx="950904" cy="6047549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 dirty="0">
              <a:sym typeface="Wingdings" panose="05000000000000000000" pitchFamily="2" charset="2"/>
            </a:rPr>
            <a:t>Agents using </a:t>
          </a:r>
          <a:r>
            <a:rPr lang="en-GB" sz="1700" i="1" kern="1200" dirty="0" err="1">
              <a:sym typeface="Wingdings" panose="05000000000000000000" pitchFamily="2" charset="2"/>
            </a:rPr>
            <a:t>LangChain</a:t>
          </a:r>
          <a:endParaRPr lang="en-GB" sz="1700" i="1" kern="1200" dirty="0">
            <a:sym typeface="Wingdings" panose="05000000000000000000" pitchFamily="2" charset="2"/>
          </a:endParaRPr>
        </a:p>
      </dsp:txBody>
      <dsp:txXfrm rot="-5400000">
        <a:off x="3401746" y="3911940"/>
        <a:ext cx="6001130" cy="858066"/>
      </dsp:txXfrm>
    </dsp:sp>
    <dsp:sp modelId="{C2ABA2AD-10D3-4A22-A97E-DF4E4CC5E200}">
      <dsp:nvSpPr>
        <dsp:cNvPr id="0" name=""/>
        <dsp:cNvSpPr/>
      </dsp:nvSpPr>
      <dsp:spPr>
        <a:xfrm>
          <a:off x="0" y="3746658"/>
          <a:ext cx="3401746" cy="1188630"/>
        </a:xfrm>
        <a:prstGeom prst="roundRect">
          <a:avLst/>
        </a:prstGeom>
        <a:solidFill>
          <a:schemeClr val="accent2">
            <a:shade val="80000"/>
            <a:hueOff val="-455004"/>
            <a:satOff val="8510"/>
            <a:lumOff val="271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0" tIns="114300" rIns="228600" bIns="11430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0" b="1" kern="1200" dirty="0">
              <a:sym typeface="Wingdings" panose="05000000000000000000" pitchFamily="2" charset="2"/>
            </a:rPr>
            <a:t>Lab 4</a:t>
          </a:r>
          <a:endParaRPr lang="en-GB" sz="6000" kern="1200" dirty="0">
            <a:sym typeface="Wingdings" panose="05000000000000000000" pitchFamily="2" charset="2"/>
          </a:endParaRPr>
        </a:p>
      </dsp:txBody>
      <dsp:txXfrm>
        <a:off x="58024" y="3804682"/>
        <a:ext cx="3285698" cy="10725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7A37C7-6DD2-48EC-A9E5-FE87CD2C713D}">
      <dsp:nvSpPr>
        <dsp:cNvPr id="0" name=""/>
        <dsp:cNvSpPr/>
      </dsp:nvSpPr>
      <dsp:spPr>
        <a:xfrm>
          <a:off x="0" y="2449336"/>
          <a:ext cx="4944194" cy="8039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 dirty="0"/>
            <a:t>Training</a:t>
          </a:r>
          <a:endParaRPr lang="en-GB" sz="1500" kern="1200" dirty="0"/>
        </a:p>
      </dsp:txBody>
      <dsp:txXfrm>
        <a:off x="0" y="2449336"/>
        <a:ext cx="4944194" cy="434120"/>
      </dsp:txXfrm>
    </dsp:sp>
    <dsp:sp modelId="{0010720D-30AB-4B38-9479-CD3CAE36CAFD}">
      <dsp:nvSpPr>
        <dsp:cNvPr id="0" name=""/>
        <dsp:cNvSpPr/>
      </dsp:nvSpPr>
      <dsp:spPr>
        <a:xfrm>
          <a:off x="0" y="2867378"/>
          <a:ext cx="2472097" cy="36980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100" b="1" kern="1200" dirty="0"/>
            <a:t>Contrastive loss</a:t>
          </a:r>
          <a:r>
            <a:rPr lang="en-GB" sz="1100" kern="1200" dirty="0"/>
            <a:t> aligns image and text embeddings (like CLIP).</a:t>
          </a:r>
        </a:p>
      </dsp:txBody>
      <dsp:txXfrm>
        <a:off x="0" y="2867378"/>
        <a:ext cx="2472097" cy="369806"/>
      </dsp:txXfrm>
    </dsp:sp>
    <dsp:sp modelId="{FB9DD1A5-393F-4EF5-8394-89027D10F0D1}">
      <dsp:nvSpPr>
        <dsp:cNvPr id="0" name=""/>
        <dsp:cNvSpPr/>
      </dsp:nvSpPr>
      <dsp:spPr>
        <a:xfrm>
          <a:off x="2472097" y="2867378"/>
          <a:ext cx="2472097" cy="36980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100" b="1" kern="1200" dirty="0"/>
            <a:t>Captioning loss</a:t>
          </a:r>
          <a:r>
            <a:rPr lang="en-GB" sz="1100" kern="1200" dirty="0"/>
            <a:t> (cross-entropy) trains the model to generate descriptive </a:t>
          </a:r>
          <a:r>
            <a:rPr lang="en-GB" sz="1100" kern="1200"/>
            <a:t>text.</a:t>
          </a:r>
          <a:endParaRPr lang="en-GB" sz="1100" kern="1200" dirty="0"/>
        </a:p>
      </dsp:txBody>
      <dsp:txXfrm>
        <a:off x="2472097" y="2867378"/>
        <a:ext cx="2472097" cy="369806"/>
      </dsp:txXfrm>
    </dsp:sp>
    <dsp:sp modelId="{40DFD775-B114-446F-B4A3-21CBE70C92CF}">
      <dsp:nvSpPr>
        <dsp:cNvPr id="0" name=""/>
        <dsp:cNvSpPr/>
      </dsp:nvSpPr>
      <dsp:spPr>
        <a:xfrm rot="10800000">
          <a:off x="0" y="1224955"/>
          <a:ext cx="4944194" cy="1236439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 dirty="0"/>
            <a:t>Text Encoder/Decoder:</a:t>
          </a:r>
          <a:endParaRPr lang="en-GB" sz="1500" kern="1200" dirty="0"/>
        </a:p>
      </dsp:txBody>
      <dsp:txXfrm rot="-10800000">
        <a:off x="0" y="1224955"/>
        <a:ext cx="4944194" cy="433990"/>
      </dsp:txXfrm>
    </dsp:sp>
    <dsp:sp modelId="{4996DD2D-33B9-4663-ABFF-185D41FD4292}">
      <dsp:nvSpPr>
        <dsp:cNvPr id="0" name=""/>
        <dsp:cNvSpPr/>
      </dsp:nvSpPr>
      <dsp:spPr>
        <a:xfrm>
          <a:off x="2414" y="1658945"/>
          <a:ext cx="1646455" cy="36969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A transformer that serves both as a:</a:t>
          </a:r>
        </a:p>
      </dsp:txBody>
      <dsp:txXfrm>
        <a:off x="2414" y="1658945"/>
        <a:ext cx="1646455" cy="369695"/>
      </dsp:txXfrm>
    </dsp:sp>
    <dsp:sp modelId="{5D4C46E7-812F-4AB1-895B-CA5E4E353693}">
      <dsp:nvSpPr>
        <dsp:cNvPr id="0" name=""/>
        <dsp:cNvSpPr/>
      </dsp:nvSpPr>
      <dsp:spPr>
        <a:xfrm>
          <a:off x="1648869" y="1658945"/>
          <a:ext cx="1646455" cy="36969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(1) contrastive encoder for alignment</a:t>
          </a:r>
        </a:p>
      </dsp:txBody>
      <dsp:txXfrm>
        <a:off x="1648869" y="1658945"/>
        <a:ext cx="1646455" cy="369695"/>
      </dsp:txXfrm>
    </dsp:sp>
    <dsp:sp modelId="{0D1B0481-0ACE-4063-89F8-90FE742325B4}">
      <dsp:nvSpPr>
        <dsp:cNvPr id="0" name=""/>
        <dsp:cNvSpPr/>
      </dsp:nvSpPr>
      <dsp:spPr>
        <a:xfrm>
          <a:off x="3295324" y="1658945"/>
          <a:ext cx="1646455" cy="36969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(2) generative decoder for captioning</a:t>
          </a:r>
        </a:p>
      </dsp:txBody>
      <dsp:txXfrm>
        <a:off x="3295324" y="1658945"/>
        <a:ext cx="1646455" cy="369695"/>
      </dsp:txXfrm>
    </dsp:sp>
    <dsp:sp modelId="{8FFD2812-4574-4E65-87D2-BF9DBD9480EC}">
      <dsp:nvSpPr>
        <dsp:cNvPr id="0" name=""/>
        <dsp:cNvSpPr/>
      </dsp:nvSpPr>
      <dsp:spPr>
        <a:xfrm rot="10800000">
          <a:off x="0" y="575"/>
          <a:ext cx="4944194" cy="1236439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/>
            <a:t>Vision Encoder</a:t>
          </a:r>
          <a:endParaRPr lang="en-GB" sz="1500" kern="1200" dirty="0"/>
        </a:p>
      </dsp:txBody>
      <dsp:txXfrm rot="-10800000">
        <a:off x="0" y="575"/>
        <a:ext cx="4944194" cy="433990"/>
      </dsp:txXfrm>
    </dsp:sp>
    <dsp:sp modelId="{6AE1BF1B-5528-4A3A-ABFE-B6546B290E72}">
      <dsp:nvSpPr>
        <dsp:cNvPr id="0" name=""/>
        <dsp:cNvSpPr/>
      </dsp:nvSpPr>
      <dsp:spPr>
        <a:xfrm>
          <a:off x="0" y="434565"/>
          <a:ext cx="2472097" cy="36969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A transformer-based visual backbone</a:t>
          </a:r>
        </a:p>
      </dsp:txBody>
      <dsp:txXfrm>
        <a:off x="0" y="434565"/>
        <a:ext cx="2472097" cy="369695"/>
      </dsp:txXfrm>
    </dsp:sp>
    <dsp:sp modelId="{3ABA924D-5AED-4E6E-8329-5B81074189DD}">
      <dsp:nvSpPr>
        <dsp:cNvPr id="0" name=""/>
        <dsp:cNvSpPr/>
      </dsp:nvSpPr>
      <dsp:spPr>
        <a:xfrm>
          <a:off x="2472097" y="434565"/>
          <a:ext cx="2472097" cy="36969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It extracts visual tokens</a:t>
          </a:r>
        </a:p>
      </dsp:txBody>
      <dsp:txXfrm>
        <a:off x="2472097" y="434565"/>
        <a:ext cx="2472097" cy="36969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3DB875-0C35-48E2-AB23-1EA99FF92F84}">
      <dsp:nvSpPr>
        <dsp:cNvPr id="0" name=""/>
        <dsp:cNvSpPr/>
      </dsp:nvSpPr>
      <dsp:spPr>
        <a:xfrm>
          <a:off x="0" y="2449336"/>
          <a:ext cx="4944194" cy="8039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Adapter / Connector</a:t>
          </a:r>
        </a:p>
      </dsp:txBody>
      <dsp:txXfrm>
        <a:off x="0" y="2449336"/>
        <a:ext cx="4944194" cy="434120"/>
      </dsp:txXfrm>
    </dsp:sp>
    <dsp:sp modelId="{063F7A34-9D6E-49F4-80B5-4FF71B37D0CE}">
      <dsp:nvSpPr>
        <dsp:cNvPr id="0" name=""/>
        <dsp:cNvSpPr/>
      </dsp:nvSpPr>
      <dsp:spPr>
        <a:xfrm>
          <a:off x="0" y="2867378"/>
          <a:ext cx="2472097" cy="36980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12700" rIns="7112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A lightweight module 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(e.g., MLP or cross-attention)</a:t>
          </a:r>
        </a:p>
      </dsp:txBody>
      <dsp:txXfrm>
        <a:off x="0" y="2867378"/>
        <a:ext cx="2472097" cy="369806"/>
      </dsp:txXfrm>
    </dsp:sp>
    <dsp:sp modelId="{87710CA8-4524-44E0-A702-B1946081D3C1}">
      <dsp:nvSpPr>
        <dsp:cNvPr id="0" name=""/>
        <dsp:cNvSpPr/>
      </dsp:nvSpPr>
      <dsp:spPr>
        <a:xfrm>
          <a:off x="2472097" y="2867378"/>
          <a:ext cx="2472097" cy="36980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12700" rIns="7112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It maps vision features 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to language token space</a:t>
          </a:r>
        </a:p>
      </dsp:txBody>
      <dsp:txXfrm>
        <a:off x="2472097" y="2867378"/>
        <a:ext cx="2472097" cy="369806"/>
      </dsp:txXfrm>
    </dsp:sp>
    <dsp:sp modelId="{40DFD775-B114-446F-B4A3-21CBE70C92CF}">
      <dsp:nvSpPr>
        <dsp:cNvPr id="0" name=""/>
        <dsp:cNvSpPr/>
      </dsp:nvSpPr>
      <dsp:spPr>
        <a:xfrm rot="10800000">
          <a:off x="0" y="1224955"/>
          <a:ext cx="4944194" cy="1236439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 dirty="0"/>
            <a:t>Large Language Model</a:t>
          </a:r>
          <a:endParaRPr lang="en-GB" sz="1500" kern="1200" dirty="0"/>
        </a:p>
      </dsp:txBody>
      <dsp:txXfrm rot="-10800000">
        <a:off x="0" y="1224955"/>
        <a:ext cx="4944194" cy="433990"/>
      </dsp:txXfrm>
    </dsp:sp>
    <dsp:sp modelId="{4996DD2D-33B9-4663-ABFF-185D41FD4292}">
      <dsp:nvSpPr>
        <dsp:cNvPr id="0" name=""/>
        <dsp:cNvSpPr/>
      </dsp:nvSpPr>
      <dsp:spPr>
        <a:xfrm>
          <a:off x="0" y="1658945"/>
          <a:ext cx="2472097" cy="36969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12700" rIns="7112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A pretrained textual model 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(e.g., T5, GPT, Llama)</a:t>
          </a:r>
        </a:p>
      </dsp:txBody>
      <dsp:txXfrm>
        <a:off x="0" y="1658945"/>
        <a:ext cx="2472097" cy="369695"/>
      </dsp:txXfrm>
    </dsp:sp>
    <dsp:sp modelId="{1B9B583C-28F7-434C-82CA-ED5D0791B81E}">
      <dsp:nvSpPr>
        <dsp:cNvPr id="0" name=""/>
        <dsp:cNvSpPr/>
      </dsp:nvSpPr>
      <dsp:spPr>
        <a:xfrm>
          <a:off x="2472097" y="1658945"/>
          <a:ext cx="2472097" cy="36969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12700" rIns="7112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It can be frozen or fine-tuned</a:t>
          </a:r>
        </a:p>
      </dsp:txBody>
      <dsp:txXfrm>
        <a:off x="2472097" y="1658945"/>
        <a:ext cx="2472097" cy="369695"/>
      </dsp:txXfrm>
    </dsp:sp>
    <dsp:sp modelId="{8FFD2812-4574-4E65-87D2-BF9DBD9480EC}">
      <dsp:nvSpPr>
        <dsp:cNvPr id="0" name=""/>
        <dsp:cNvSpPr/>
      </dsp:nvSpPr>
      <dsp:spPr>
        <a:xfrm rot="10800000">
          <a:off x="0" y="575"/>
          <a:ext cx="4944194" cy="1236439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/>
            <a:t>Vision Encoder</a:t>
          </a:r>
          <a:endParaRPr lang="en-GB" sz="1500" kern="1200" dirty="0"/>
        </a:p>
      </dsp:txBody>
      <dsp:txXfrm rot="-10800000">
        <a:off x="0" y="575"/>
        <a:ext cx="4944194" cy="433990"/>
      </dsp:txXfrm>
    </dsp:sp>
    <dsp:sp modelId="{6AE1BF1B-5528-4A3A-ABFE-B6546B290E72}">
      <dsp:nvSpPr>
        <dsp:cNvPr id="0" name=""/>
        <dsp:cNvSpPr/>
      </dsp:nvSpPr>
      <dsp:spPr>
        <a:xfrm>
          <a:off x="0" y="434565"/>
          <a:ext cx="2472097" cy="36969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12700" rIns="7112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0" i="1" kern="1200" dirty="0"/>
            <a:t>Pretrained</a:t>
          </a:r>
          <a:r>
            <a:rPr lang="en-GB" sz="1000" kern="1200" dirty="0"/>
            <a:t> visual backbone 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(e.g., CLIP-</a:t>
          </a:r>
          <a:r>
            <a:rPr lang="en-GB" sz="1000" kern="1200" dirty="0" err="1"/>
            <a:t>ViT</a:t>
          </a:r>
          <a:r>
            <a:rPr lang="en-GB" sz="1000" kern="1200" dirty="0"/>
            <a:t>, EVA, Swin)</a:t>
          </a:r>
        </a:p>
      </dsp:txBody>
      <dsp:txXfrm>
        <a:off x="0" y="434565"/>
        <a:ext cx="2472097" cy="369695"/>
      </dsp:txXfrm>
    </dsp:sp>
    <dsp:sp modelId="{D1F64AA6-CC16-4438-8A41-CA69D04C4182}">
      <dsp:nvSpPr>
        <dsp:cNvPr id="0" name=""/>
        <dsp:cNvSpPr/>
      </dsp:nvSpPr>
      <dsp:spPr>
        <a:xfrm>
          <a:off x="2472097" y="434565"/>
          <a:ext cx="2472097" cy="36969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12700" rIns="7112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It extracts visual tokens</a:t>
          </a:r>
        </a:p>
      </dsp:txBody>
      <dsp:txXfrm>
        <a:off x="2472097" y="434565"/>
        <a:ext cx="2472097" cy="3696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F85B3-2EDB-47EF-A73A-5900FF2E6037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FCFD18-25B0-4288-AD06-F9E4B0C088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9329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Image or video frame sequence.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FCFD18-25B0-4288-AD06-F9E4B0C088B8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69751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EFBEC-3D9A-0B1D-9053-EF9C50183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F76A2A-A857-30B0-574C-60765D60A9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C5360E-602F-F3E6-2F5F-D76F042FC2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Image or video frame sequence.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4730B0-8B0C-F720-2357-8BB2A9A4B7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FCFD18-25B0-4288-AD06-F9E4B0C088B8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6262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D4DEE-A99D-AC4E-1C0F-A4CF634AFA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3AE999-F2F5-7FB4-856D-EDCD25B89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A751E-A4F7-AC8E-7749-ECAB969E7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274B9-59B1-4D1D-9A19-42F614610704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98C3B-63E1-0BF7-C4E9-E9F3E26A1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51E26-A049-DB35-D732-83BABE151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2BCC-AA0C-404E-B992-B98B179DC5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876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063AD-41DE-3944-9203-A691335AE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FF57E-C74B-D737-81D9-65E9A6A308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5CB64-88C8-53EA-B49B-341158502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274B9-59B1-4D1D-9A19-42F614610704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703E22-415A-ED68-96E5-A28B9C15E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77A2D-A165-EE94-67F2-748EFB5F5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2BCC-AA0C-404E-B992-B98B179DC5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7500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5FBA8-4ABF-0373-A669-BFE9F0CC7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E8CE0C-26B3-1DFF-7B66-A55C06AA6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22E3A-5A22-9338-A3B7-1DC0135DB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274B9-59B1-4D1D-9A19-42F614610704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3A787-F23C-29B0-546F-E19BA4E03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20881-062D-6EDB-1153-9D5DEF7F8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2BCC-AA0C-404E-B992-B98B179DC5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3086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B560A-85AB-788A-A365-633D712D1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F04C7-BC8B-9D61-F067-E54A275E01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AE7798-A983-D00F-9488-5594BFA396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B18AB6-DF2E-8205-5A7C-BF861A374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274B9-59B1-4D1D-9A19-42F614610704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B8893C-16C6-0D6B-819C-0727630F7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8B771F-C15B-7599-72EC-11F7566B0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2BCC-AA0C-404E-B992-B98B179DC5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2695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B71D4-E9F4-D7A9-5115-8E1BD8FC0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3BA2E6-578B-6337-6BE1-FE0CEC277B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42DEF4-53D0-E54E-CC2B-5532B07A5C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0F53A7-877D-8478-22F3-743925C1F2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1070E7-3638-56CA-BB38-FF932ACE03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8106A9-F655-3F5D-B57D-54CACE613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274B9-59B1-4D1D-9A19-42F614610704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5FC26B-FCA1-A361-6865-4689DDA6C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01980F-B254-E57E-7B4A-ACCB3EC01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2BCC-AA0C-404E-B992-B98B179DC5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3554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2DB90-EC59-116A-7515-30C7D1D19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99C9EF-2944-29CB-0B08-C2D1105C2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274B9-59B1-4D1D-9A19-42F614610704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801692-37C6-13DF-464C-EFA5B1F44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9A7490-7C57-874A-209B-72F74E897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2BCC-AA0C-404E-B992-B98B179DC5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3718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EF28BD-279B-3AEC-2BC3-8C12D1C5F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274B9-59B1-4D1D-9A19-42F614610704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B0A304-4EA7-F59C-B629-B7FEFDF9A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B17B87-D1B2-43CE-3405-E6D7688D7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2BCC-AA0C-404E-B992-B98B179DC5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6700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787FE-5329-6AD3-06F8-C0BF3F145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A36A6-ED02-069B-BE31-3F132BFD8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982CCA-445C-C670-1FFF-B80450032B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7569FC-5848-FCBA-751D-9BDB79B5E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274B9-59B1-4D1D-9A19-42F614610704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8811E1-D78E-099E-3FC5-418D9F17D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8908E4-9225-3CEC-75B5-D2DB018D0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2BCC-AA0C-404E-B992-B98B179DC5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6779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9B0E0-9860-373E-2287-2C19EF72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4F8B0D-95E7-7007-C05F-4001C12BCD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5D9EC5-95AB-F748-184A-6EF9BE0FBD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79A05-7971-400B-06F0-74C909D90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274B9-59B1-4D1D-9A19-42F614610704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6CE4F9-7ADC-9613-3B00-5AF045B92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06147E-F155-7290-7258-2A25CD85D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2BCC-AA0C-404E-B992-B98B179DC5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0817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39FC0-FCE9-F136-DF0B-FB80630ED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DAA132-AB84-0A9D-D998-18DE6DD332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E94D8-A1D1-0C72-0047-5790DBC2E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274B9-59B1-4D1D-9A19-42F614610704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10F215-25B3-162E-44D2-FF45D94A3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A3C2C-D2C9-1FF0-89AE-2C6A48156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2BCC-AA0C-404E-B992-B98B179DC5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142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1A8D43-A7EB-9ECB-226E-1E3C123AD0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786597-F935-4BF0-262B-388F767F17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96821-930B-8331-C00A-77E55D778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274B9-59B1-4D1D-9A19-42F614610704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C0A00C-D797-52CD-1E04-3C6D04EE3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C653B-4288-0987-75ED-A154956A4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2BCC-AA0C-404E-B992-B98B179DC5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4290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633DD6-BAE5-B453-1E8B-350A32C50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FDCEA4-BBA2-3898-2CE0-9758F5B6CA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F8085-1B32-6AA7-E06F-1953FA39CF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4274B9-59B1-4D1D-9A19-42F614610704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9833D-6898-1D44-F7B4-C5E68897B0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123DF9-FBEF-62FD-597F-F6CF4DBFDC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5A2BCC-AA0C-404E-B992-B98B179DC5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4533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" TargetMode="External"/><Relationship Id="rId2" Type="http://schemas.openxmlformats.org/officeDocument/2006/relationships/hyperlink" Target="mailto:paolo.rota@unitn.i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11" Type="http://schemas.openxmlformats.org/officeDocument/2006/relationships/hyperlink" Target="https://arxiv.org/abs/2203.02053" TargetMode="External"/><Relationship Id="rId5" Type="http://schemas.openxmlformats.org/officeDocument/2006/relationships/diagramLayout" Target="../diagrams/layout2.xml"/><Relationship Id="rId10" Type="http://schemas.openxmlformats.org/officeDocument/2006/relationships/hyperlink" Target="https://arxiv.org/abs/2205.01917" TargetMode="External"/><Relationship Id="rId4" Type="http://schemas.openxmlformats.org/officeDocument/2006/relationships/diagramData" Target="../diagrams/data2.xml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Relationship Id="rId9" Type="http://schemas.openxmlformats.org/officeDocument/2006/relationships/hyperlink" Target="https://arxiv.org/abs/2502.13923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colab.research.google.com/github/saturnMars/FM_2025/blob/main/Lab3_video.ipynb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menti.com/al4ika5ziju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65DC169-9BD6-D33A-3D16-A87782D838E9}"/>
              </a:ext>
            </a:extLst>
          </p:cNvPr>
          <p:cNvSpPr/>
          <p:nvPr/>
        </p:nvSpPr>
        <p:spPr>
          <a:xfrm>
            <a:off x="-1" y="-758283"/>
            <a:ext cx="12192001" cy="4848550"/>
          </a:xfrm>
          <a:prstGeom prst="roundRect">
            <a:avLst>
              <a:gd name="adj" fmla="val 820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894533-44E2-8593-216C-9165487A7D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437957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Foundation Models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11B474-C06F-CFA5-22A3-621B365C3A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6413" y="4344514"/>
            <a:ext cx="4772722" cy="2172258"/>
          </a:xfrm>
        </p:spPr>
        <p:txBody>
          <a:bodyPr>
            <a:normAutofit/>
          </a:bodyPr>
          <a:lstStyle/>
          <a:p>
            <a:endParaRPr lang="it-IT" dirty="0"/>
          </a:p>
          <a:p>
            <a:r>
              <a:rPr lang="it-IT" dirty="0"/>
              <a:t>Paolo Rota</a:t>
            </a:r>
          </a:p>
          <a:p>
            <a:r>
              <a:rPr lang="it-IT" dirty="0">
                <a:hlinkClick r:id="rId2"/>
              </a:rPr>
              <a:t>paolo.rota@unitn.it</a:t>
            </a:r>
            <a:endParaRPr lang="it-IT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4E83BE58-AE75-258C-E81C-8A3E3ED083B6}"/>
              </a:ext>
            </a:extLst>
          </p:cNvPr>
          <p:cNvSpPr txBox="1">
            <a:spLocks/>
          </p:cNvSpPr>
          <p:nvPr/>
        </p:nvSpPr>
        <p:spPr>
          <a:xfrm>
            <a:off x="7168747" y="4344514"/>
            <a:ext cx="4772722" cy="21722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dirty="0"/>
          </a:p>
          <a:p>
            <a:r>
              <a:rPr lang="it-IT" dirty="0"/>
              <a:t>Marco Bronzini</a:t>
            </a:r>
          </a:p>
          <a:p>
            <a:r>
              <a:rPr lang="it-IT" dirty="0">
                <a:hlinkClick r:id="rId3"/>
              </a:rPr>
              <a:t>marco.bronzini-1@unitn.it</a:t>
            </a:r>
            <a:endParaRPr lang="en-GB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0760C6F-54F4-03DD-323A-9BFDA22916D0}"/>
              </a:ext>
            </a:extLst>
          </p:cNvPr>
          <p:cNvSpPr/>
          <p:nvPr/>
        </p:nvSpPr>
        <p:spPr>
          <a:xfrm>
            <a:off x="3789555" y="6199705"/>
            <a:ext cx="5058195" cy="9998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dirty="0"/>
              <a:t>University of Trento</a:t>
            </a:r>
          </a:p>
          <a:p>
            <a:pPr algn="ctr"/>
            <a:r>
              <a:rPr lang="en-GB" sz="1400" dirty="0"/>
              <a:t>November 7, 2025</a:t>
            </a:r>
          </a:p>
        </p:txBody>
      </p:sp>
    </p:spTree>
    <p:extLst>
      <p:ext uri="{BB962C8B-B14F-4D97-AF65-F5344CB8AC3E}">
        <p14:creationId xmlns:p14="http://schemas.microsoft.com/office/powerpoint/2010/main" val="4179460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81566-CFDE-F503-8D92-F6AE5A6FA1D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oundRect">
            <a:avLst/>
          </a:prstGeom>
          <a:solidFill>
            <a:schemeClr val="accent1"/>
          </a:solidFill>
        </p:spPr>
        <p:txBody>
          <a:bodyPr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Overview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21DC5F1-8842-C576-C534-B8D7E394DD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5701166"/>
              </p:ext>
            </p:extLst>
          </p:nvPr>
        </p:nvGraphicFramePr>
        <p:xfrm>
          <a:off x="1612714" y="1806498"/>
          <a:ext cx="9449296" cy="49377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3BE6F29-1C11-E70E-A802-3A4964F6C94D}"/>
              </a:ext>
            </a:extLst>
          </p:cNvPr>
          <p:cNvSpPr txBox="1"/>
          <p:nvPr/>
        </p:nvSpPr>
        <p:spPr>
          <a:xfrm>
            <a:off x="176436" y="2197233"/>
            <a:ext cx="13872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/>
            <a:r>
              <a:rPr lang="en-GB" i="1" dirty="0"/>
              <a:t>Friday</a:t>
            </a:r>
            <a:r>
              <a:rPr lang="en-GB" dirty="0"/>
              <a:t>, October 10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B7F99F-E707-E4BD-0D6E-C1F3C54FC919}"/>
              </a:ext>
            </a:extLst>
          </p:cNvPr>
          <p:cNvSpPr txBox="1"/>
          <p:nvPr/>
        </p:nvSpPr>
        <p:spPr>
          <a:xfrm>
            <a:off x="102591" y="3473676"/>
            <a:ext cx="14610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/>
            <a:r>
              <a:rPr lang="en-GB" i="1" dirty="0"/>
              <a:t>Wednesday</a:t>
            </a:r>
            <a:r>
              <a:rPr lang="en-GB" dirty="0"/>
              <a:t>,</a:t>
            </a:r>
          </a:p>
          <a:p>
            <a:pPr lvl="0" algn="r"/>
            <a:r>
              <a:rPr lang="en-GB" dirty="0"/>
              <a:t>October 15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E3254D-6AF7-8CF9-A749-CA48A6BB0AF4}"/>
              </a:ext>
            </a:extLst>
          </p:cNvPr>
          <p:cNvSpPr txBox="1"/>
          <p:nvPr/>
        </p:nvSpPr>
        <p:spPr>
          <a:xfrm>
            <a:off x="21502" y="4578835"/>
            <a:ext cx="14610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/>
            <a:r>
              <a:rPr lang="en-GB" i="1" dirty="0"/>
              <a:t>Friday, November 7</a:t>
            </a:r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FD73BBD-F49D-83FF-FD6C-7354A640F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14F82-BE8C-4CA8-BA76-52B2F053D2D8}" type="slidenum">
              <a:rPr lang="en-GB" smtClean="0"/>
              <a:t>2</a:t>
            </a:fld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886C8F0-8B82-FD99-0767-408D75A5665B}"/>
              </a:ext>
            </a:extLst>
          </p:cNvPr>
          <p:cNvSpPr/>
          <p:nvPr/>
        </p:nvSpPr>
        <p:spPr>
          <a:xfrm>
            <a:off x="176436" y="1806498"/>
            <a:ext cx="11229031" cy="2465391"/>
          </a:xfrm>
          <a:prstGeom prst="round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ED86EBE-D870-FB3D-29EA-E4B2E8BCF419}"/>
              </a:ext>
            </a:extLst>
          </p:cNvPr>
          <p:cNvSpPr/>
          <p:nvPr/>
        </p:nvSpPr>
        <p:spPr>
          <a:xfrm>
            <a:off x="1500839" y="5478595"/>
            <a:ext cx="9572207" cy="1265663"/>
          </a:xfrm>
          <a:prstGeom prst="round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22658B-BAAE-D3AA-9A80-B3D47FC134F8}"/>
              </a:ext>
            </a:extLst>
          </p:cNvPr>
          <p:cNvSpPr txBox="1"/>
          <p:nvPr/>
        </p:nvSpPr>
        <p:spPr>
          <a:xfrm>
            <a:off x="21502" y="5788260"/>
            <a:ext cx="152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/>
            <a:r>
              <a:rPr lang="en-GB" i="1" dirty="0"/>
              <a:t>Wednesday, November 12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05314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2A1F3-BEB3-52B2-1FA4-71BCBEAFA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023FA51-EDD9-4C1B-E13E-4809704D2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14F82-BE8C-4CA8-BA76-52B2F053D2D8}" type="slidenum">
              <a:rPr lang="en-GB" smtClean="0"/>
              <a:t>3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C9049E-C401-931D-9517-C1F224A2A467}"/>
              </a:ext>
            </a:extLst>
          </p:cNvPr>
          <p:cNvSpPr txBox="1"/>
          <p:nvPr/>
        </p:nvSpPr>
        <p:spPr>
          <a:xfrm>
            <a:off x="7407865" y="2279108"/>
            <a:ext cx="3372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u="sng" dirty="0"/>
              <a:t>TEXT</a:t>
            </a:r>
            <a:r>
              <a:rPr lang="en-GB" dirty="0"/>
              <a:t>: Short textual description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792303-2C81-28EE-F879-C28CAFC7AB52}"/>
              </a:ext>
            </a:extLst>
          </p:cNvPr>
          <p:cNvSpPr txBox="1"/>
          <p:nvPr/>
        </p:nvSpPr>
        <p:spPr>
          <a:xfrm>
            <a:off x="8065701" y="3601448"/>
            <a:ext cx="2057038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Consolas" panose="020B0609020204030204" pitchFamily="49" charset="0"/>
              </a:rPr>
              <a:t>A person is changing a car tire.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9126359E-915F-B31E-02E2-48909F25A2B8}"/>
              </a:ext>
            </a:extLst>
          </p:cNvPr>
          <p:cNvSpPr/>
          <p:nvPr/>
        </p:nvSpPr>
        <p:spPr>
          <a:xfrm>
            <a:off x="4310085" y="3713895"/>
            <a:ext cx="2729415" cy="698436"/>
          </a:xfrm>
          <a:prstGeom prst="rightArrow">
            <a:avLst>
              <a:gd name="adj1" fmla="val 50000"/>
              <a:gd name="adj2" fmla="val 7763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BE463D-DB4A-6DD5-A8DE-CCBB6C042528}"/>
              </a:ext>
            </a:extLst>
          </p:cNvPr>
          <p:cNvSpPr txBox="1"/>
          <p:nvPr/>
        </p:nvSpPr>
        <p:spPr>
          <a:xfrm>
            <a:off x="4392795" y="4258654"/>
            <a:ext cx="2057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Generative models</a:t>
            </a:r>
          </a:p>
        </p:txBody>
      </p:sp>
      <p:pic>
        <p:nvPicPr>
          <p:cNvPr id="11" name="Picture 10" descr="A close-up of a person changing a tire&#10;&#10;AI-generated content may be incorrect.">
            <a:extLst>
              <a:ext uri="{FF2B5EF4-FFF2-40B4-BE49-F238E27FC236}">
                <a16:creationId xmlns:a16="http://schemas.microsoft.com/office/drawing/2014/main" id="{9D7C1058-DB7D-9322-28FD-7BB1033D76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647" y="4172595"/>
            <a:ext cx="2591481" cy="1458522"/>
          </a:xfrm>
          <a:prstGeom prst="rect">
            <a:avLst/>
          </a:prstGeom>
        </p:spPr>
      </p:pic>
      <p:pic>
        <p:nvPicPr>
          <p:cNvPr id="13" name="Picture 12" descr="A close-up of a person's hand on a car wheel&#10;&#10;AI-generated content may be incorrect.">
            <a:extLst>
              <a:ext uri="{FF2B5EF4-FFF2-40B4-BE49-F238E27FC236}">
                <a16:creationId xmlns:a16="http://schemas.microsoft.com/office/drawing/2014/main" id="{53DFFF1C-7FB3-B302-A639-9829216216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647" y="2581576"/>
            <a:ext cx="2591481" cy="145852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3736FB4-6C46-F2C8-3F32-973797D796C4}"/>
              </a:ext>
            </a:extLst>
          </p:cNvPr>
          <p:cNvSpPr txBox="1"/>
          <p:nvPr/>
        </p:nvSpPr>
        <p:spPr>
          <a:xfrm rot="16200000">
            <a:off x="-916549" y="5065586"/>
            <a:ext cx="38172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400" dirty="0"/>
              <a:t>e.g., 30 frames per second (FPS) </a:t>
            </a:r>
          </a:p>
        </p:txBody>
      </p:sp>
      <p:pic>
        <p:nvPicPr>
          <p:cNvPr id="5" name="Picture 4" descr="A close-up of a person changing a tire&#10;&#10;AI-generated content may be incorrect.">
            <a:extLst>
              <a:ext uri="{FF2B5EF4-FFF2-40B4-BE49-F238E27FC236}">
                <a16:creationId xmlns:a16="http://schemas.microsoft.com/office/drawing/2014/main" id="{0828B032-DBD2-7A90-EBD6-780BA0BFCFF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647" y="5763614"/>
            <a:ext cx="2591481" cy="14585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ED21F9-DB10-1D5F-788A-3B1344E43660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oundRect">
            <a:avLst/>
          </a:prstGeom>
          <a:solidFill>
            <a:schemeClr val="accent1"/>
          </a:solidFill>
        </p:spPr>
        <p:txBody>
          <a:bodyPr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Multi-modal setting: </a:t>
            </a:r>
            <a:r>
              <a:rPr lang="en-GB" b="1" dirty="0">
                <a:solidFill>
                  <a:schemeClr val="bg1"/>
                </a:solidFill>
              </a:rPr>
              <a:t>Video Captioning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9DE0AA-50AC-8C7B-928D-751D58158FE5}"/>
              </a:ext>
            </a:extLst>
          </p:cNvPr>
          <p:cNvSpPr txBox="1"/>
          <p:nvPr/>
        </p:nvSpPr>
        <p:spPr>
          <a:xfrm>
            <a:off x="1020084" y="2045349"/>
            <a:ext cx="337271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b="1" u="sng" dirty="0"/>
              <a:t>VIDEO</a:t>
            </a:r>
            <a:r>
              <a:rPr lang="en-GB" dirty="0"/>
              <a:t>: collection of images</a:t>
            </a:r>
          </a:p>
        </p:txBody>
      </p:sp>
    </p:spTree>
    <p:extLst>
      <p:ext uri="{BB962C8B-B14F-4D97-AF65-F5344CB8AC3E}">
        <p14:creationId xmlns:p14="http://schemas.microsoft.com/office/powerpoint/2010/main" val="1527362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B0758-DEC0-7258-4DBC-955FFC70D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0CF62FE3-8974-9A7F-DC71-3BEA039553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4427" y="1835300"/>
            <a:ext cx="3172044" cy="26531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CF0E050-CADA-7AF0-F514-D80D88CCDBCC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oundRect">
            <a:avLst/>
          </a:prstGeom>
          <a:solidFill>
            <a:schemeClr val="accent1"/>
          </a:solidFill>
        </p:spPr>
        <p:txBody>
          <a:bodyPr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Approach: </a:t>
            </a:r>
            <a:r>
              <a:rPr lang="en-GB" b="1" i="1" dirty="0">
                <a:solidFill>
                  <a:schemeClr val="bg1"/>
                </a:solidFill>
              </a:rPr>
              <a:t>Co</a:t>
            </a:r>
            <a:r>
              <a:rPr lang="en-GB" i="1" dirty="0">
                <a:solidFill>
                  <a:schemeClr val="bg1"/>
                </a:solidFill>
              </a:rPr>
              <a:t>ntrastive </a:t>
            </a:r>
            <a:r>
              <a:rPr lang="en-GB" b="1" i="1" dirty="0">
                <a:solidFill>
                  <a:schemeClr val="bg1"/>
                </a:solidFill>
              </a:rPr>
              <a:t>Ca</a:t>
            </a:r>
            <a:r>
              <a:rPr lang="en-GB" i="1" dirty="0">
                <a:solidFill>
                  <a:schemeClr val="bg1"/>
                </a:solidFill>
              </a:rPr>
              <a:t>ptioners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F04412B-9895-CEA1-9B4A-5796C696E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14F82-BE8C-4CA8-BA76-52B2F053D2D8}" type="slidenum">
              <a:rPr lang="en-GB" smtClean="0"/>
              <a:t>4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CF6A14-9AB8-7F3A-5DDA-C573F149EF32}"/>
              </a:ext>
            </a:extLst>
          </p:cNvPr>
          <p:cNvSpPr txBox="1"/>
          <p:nvPr/>
        </p:nvSpPr>
        <p:spPr>
          <a:xfrm>
            <a:off x="1139555" y="1896971"/>
            <a:ext cx="98378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It is a unified model trained from scratch on image-text pairs, which combines: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dirty="0"/>
              <a:t>contrastive learning </a:t>
            </a:r>
            <a:r>
              <a:rPr lang="en-GB" dirty="0"/>
              <a:t>(e.g., CLIP)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dirty="0"/>
              <a:t>caption generation</a:t>
            </a:r>
            <a:r>
              <a:rPr lang="en-GB" dirty="0"/>
              <a:t> (e.g., GPT-style decoding).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66452969-EA95-0709-FD94-0DF26FA079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44812995"/>
              </p:ext>
            </p:extLst>
          </p:nvPr>
        </p:nvGraphicFramePr>
        <p:xfrm>
          <a:off x="1332542" y="3187566"/>
          <a:ext cx="4944194" cy="3253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9F6F874F-0D8B-260D-A9C6-93DF25195187}"/>
              </a:ext>
            </a:extLst>
          </p:cNvPr>
          <p:cNvSpPr/>
          <p:nvPr/>
        </p:nvSpPr>
        <p:spPr>
          <a:xfrm>
            <a:off x="9210955" y="3242868"/>
            <a:ext cx="1388559" cy="1015980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55A9288-79A9-4522-4BB2-3F5A3B568726}"/>
              </a:ext>
            </a:extLst>
          </p:cNvPr>
          <p:cNvSpPr/>
          <p:nvPr/>
        </p:nvSpPr>
        <p:spPr>
          <a:xfrm rot="16200000">
            <a:off x="-931673" y="4690254"/>
            <a:ext cx="3351347" cy="34597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TRAINING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451AEE2-6554-F4A0-5B1D-0CC1DA6A4A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901" b="81081"/>
          <a:stretch>
            <a:fillRect/>
          </a:stretch>
        </p:blipFill>
        <p:spPr bwMode="auto">
          <a:xfrm>
            <a:off x="6990234" y="4730139"/>
            <a:ext cx="2915000" cy="612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0D5CF6-11F8-F7C1-BC90-F9C77A76F1CF}"/>
              </a:ext>
            </a:extLst>
          </p:cNvPr>
          <p:cNvSpPr txBox="1"/>
          <p:nvPr/>
        </p:nvSpPr>
        <p:spPr>
          <a:xfrm>
            <a:off x="7846201" y="4327953"/>
            <a:ext cx="497908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900" dirty="0" err="1">
                <a:hlinkClick r:id="rId10"/>
              </a:rPr>
              <a:t>CoCa</a:t>
            </a:r>
            <a:r>
              <a:rPr lang="en-GB" sz="900" dirty="0">
                <a:hlinkClick r:id="rId10"/>
              </a:rPr>
              <a:t>: Contrastive Captioners are Image-Text Foundation Models</a:t>
            </a:r>
            <a:endParaRPr lang="en-GB" sz="900" dirty="0"/>
          </a:p>
        </p:txBody>
      </p:sp>
      <p:pic>
        <p:nvPicPr>
          <p:cNvPr id="29" name="Picture 2">
            <a:extLst>
              <a:ext uri="{FF2B5EF4-FFF2-40B4-BE49-F238E27FC236}">
                <a16:creationId xmlns:a16="http://schemas.microsoft.com/office/drawing/2014/main" id="{8E1AA79B-E776-180D-C096-83CC2BFA9D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796" r="80" b="38758"/>
          <a:stretch>
            <a:fillRect/>
          </a:stretch>
        </p:blipFill>
        <p:spPr bwMode="auto">
          <a:xfrm>
            <a:off x="6607601" y="5343038"/>
            <a:ext cx="3784498" cy="961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D2B6AC7C-3D29-0E40-1241-702A09D3F47C}"/>
              </a:ext>
            </a:extLst>
          </p:cNvPr>
          <p:cNvSpPr txBox="1"/>
          <p:nvPr/>
        </p:nvSpPr>
        <p:spPr>
          <a:xfrm>
            <a:off x="7039664" y="6398257"/>
            <a:ext cx="33524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900" dirty="0">
                <a:hlinkClick r:id="rId11"/>
              </a:rPr>
              <a:t>Mind the Gap: Understanding the Modality Gap in Multi-modal Contrastive Representation Learning</a:t>
            </a:r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4052688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E3787-28C8-B93E-AB5E-6676DE323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C08AC-5997-DEC8-D431-40C5469F0E2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oundRect">
            <a:avLst/>
          </a:prstGeom>
          <a:solidFill>
            <a:schemeClr val="accent1"/>
          </a:solidFill>
        </p:spPr>
        <p:txBody>
          <a:bodyPr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Approach: </a:t>
            </a:r>
            <a:r>
              <a:rPr lang="en-GB" b="1" dirty="0">
                <a:solidFill>
                  <a:schemeClr val="bg1"/>
                </a:solidFill>
              </a:rPr>
              <a:t>V</a:t>
            </a:r>
            <a:r>
              <a:rPr lang="en-GB" dirty="0">
                <a:solidFill>
                  <a:schemeClr val="bg1"/>
                </a:solidFill>
              </a:rPr>
              <a:t>ision-</a:t>
            </a:r>
            <a:r>
              <a:rPr lang="en-GB" b="1" dirty="0">
                <a:solidFill>
                  <a:schemeClr val="bg1"/>
                </a:solidFill>
              </a:rPr>
              <a:t>L</a:t>
            </a:r>
            <a:r>
              <a:rPr lang="en-GB" dirty="0">
                <a:solidFill>
                  <a:schemeClr val="bg1"/>
                </a:solidFill>
              </a:rPr>
              <a:t>anguage </a:t>
            </a:r>
            <a:r>
              <a:rPr lang="en-GB" b="1" dirty="0">
                <a:solidFill>
                  <a:schemeClr val="bg1"/>
                </a:solidFill>
              </a:rPr>
              <a:t>M</a:t>
            </a:r>
            <a:r>
              <a:rPr lang="en-GB" dirty="0">
                <a:solidFill>
                  <a:schemeClr val="bg1"/>
                </a:solidFill>
              </a:rPr>
              <a:t>odels (VLMs)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AC3CE73-ED05-74FD-1AB2-6546B574F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14F82-BE8C-4CA8-BA76-52B2F053D2D8}" type="slidenum">
              <a:rPr lang="en-GB" smtClean="0"/>
              <a:t>5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8F6484-9F18-8EA2-84A5-796F97A546F9}"/>
              </a:ext>
            </a:extLst>
          </p:cNvPr>
          <p:cNvSpPr txBox="1"/>
          <p:nvPr/>
        </p:nvSpPr>
        <p:spPr>
          <a:xfrm>
            <a:off x="936270" y="1940864"/>
            <a:ext cx="98378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 generative model able to understand images and text inputs using: </a:t>
            </a:r>
          </a:p>
          <a:p>
            <a:pPr marL="342900" indent="-342900">
              <a:buFont typeface="+mj-lt"/>
              <a:buAutoNum type="alphaLcParenR"/>
            </a:pPr>
            <a:r>
              <a:rPr lang="en-GB" dirty="0"/>
              <a:t>a vision encoder </a:t>
            </a:r>
          </a:p>
          <a:p>
            <a:pPr marL="342900" indent="-342900">
              <a:buFont typeface="+mj-lt"/>
              <a:buAutoNum type="alphaLcParenR"/>
            </a:pPr>
            <a:r>
              <a:rPr lang="en-GB" dirty="0"/>
              <a:t>a large language model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2CC80F-F9D4-EBE4-31F4-31B139D04ECA}"/>
              </a:ext>
            </a:extLst>
          </p:cNvPr>
          <p:cNvSpPr/>
          <p:nvPr/>
        </p:nvSpPr>
        <p:spPr>
          <a:xfrm>
            <a:off x="9335020" y="2312311"/>
            <a:ext cx="1388559" cy="1015980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EF52FC2-D683-F4D7-9922-1F3EF2F502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9861971"/>
              </p:ext>
            </p:extLst>
          </p:nvPr>
        </p:nvGraphicFramePr>
        <p:xfrm>
          <a:off x="1332542" y="3187566"/>
          <a:ext cx="4944194" cy="3253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FE0EA19-4705-2AC0-6BFE-A5CA0662AEF8}"/>
              </a:ext>
            </a:extLst>
          </p:cNvPr>
          <p:cNvSpPr/>
          <p:nvPr/>
        </p:nvSpPr>
        <p:spPr>
          <a:xfrm rot="16200000">
            <a:off x="-544421" y="4027773"/>
            <a:ext cx="2136663" cy="34597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PRE-TRAINED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928C465-9735-6050-99F4-CD64AE47A7FD}"/>
              </a:ext>
            </a:extLst>
          </p:cNvPr>
          <p:cNvSpPr/>
          <p:nvPr/>
        </p:nvSpPr>
        <p:spPr>
          <a:xfrm rot="16200000">
            <a:off x="-90184" y="5297596"/>
            <a:ext cx="2136663" cy="34597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TRAINING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38FF8CF-D215-E4F7-D77D-B5C528BA5C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52085" y="2820301"/>
            <a:ext cx="5089697" cy="338443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26D77CA-B545-FBB2-B2F2-27AE9627491D}"/>
              </a:ext>
            </a:extLst>
          </p:cNvPr>
          <p:cNvSpPr txBox="1"/>
          <p:nvPr/>
        </p:nvSpPr>
        <p:spPr>
          <a:xfrm>
            <a:off x="9822086" y="6192447"/>
            <a:ext cx="2861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hlinkClick r:id="rId9"/>
              </a:rPr>
              <a:t>Qwen2.5-VL Technical Report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475950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BE301-0FB6-073C-1DF0-6C400B32B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68A44-A3F1-1ED5-D55F-EA2E86D84433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oundRect">
            <a:avLst/>
          </a:prstGeom>
          <a:solidFill>
            <a:schemeClr val="accent1"/>
          </a:solidFill>
        </p:spPr>
        <p:txBody>
          <a:bodyPr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Comparison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59869B-50AB-07AE-C547-8637C5254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14F82-BE8C-4CA8-BA76-52B2F053D2D8}" type="slidenum">
              <a:rPr lang="en-GB" smtClean="0"/>
              <a:t>6</a:t>
            </a:fld>
            <a:endParaRPr lang="en-GB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BD85C21-7B30-E032-DF6D-1A6AC4A3BA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8783644"/>
              </p:ext>
            </p:extLst>
          </p:nvPr>
        </p:nvGraphicFramePr>
        <p:xfrm>
          <a:off x="1332543" y="2423319"/>
          <a:ext cx="9658637" cy="2926080"/>
        </p:xfrm>
        <a:graphic>
          <a:graphicData uri="http://schemas.openxmlformats.org/drawingml/2006/table">
            <a:tbl>
              <a:tblPr firstRow="1" firstCol="1" bandRow="1" bandCol="1">
                <a:tableStyleId>{7E9639D4-E3E2-4D34-9284-5A2195B3D0D7}</a:tableStyleId>
              </a:tblPr>
              <a:tblGrid>
                <a:gridCol w="2328236">
                  <a:extLst>
                    <a:ext uri="{9D8B030D-6E8A-4147-A177-3AD203B41FA5}">
                      <a16:colId xmlns:a16="http://schemas.microsoft.com/office/drawing/2014/main" val="3853648968"/>
                    </a:ext>
                  </a:extLst>
                </a:gridCol>
                <a:gridCol w="3401697">
                  <a:extLst>
                    <a:ext uri="{9D8B030D-6E8A-4147-A177-3AD203B41FA5}">
                      <a16:colId xmlns:a16="http://schemas.microsoft.com/office/drawing/2014/main" val="1813154510"/>
                    </a:ext>
                  </a:extLst>
                </a:gridCol>
                <a:gridCol w="3928704">
                  <a:extLst>
                    <a:ext uri="{9D8B030D-6E8A-4147-A177-3AD203B41FA5}">
                      <a16:colId xmlns:a16="http://schemas.microsoft.com/office/drawing/2014/main" val="28009683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dirty="0"/>
                        <a:t>Aspect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b="1" i="1" dirty="0">
                          <a:solidFill>
                            <a:schemeClr val="bg1"/>
                          </a:solidFill>
                        </a:rPr>
                        <a:t>Co</a:t>
                      </a:r>
                      <a:r>
                        <a:rPr lang="en-GB" i="1" dirty="0">
                          <a:solidFill>
                            <a:schemeClr val="bg1"/>
                          </a:solidFill>
                        </a:rPr>
                        <a:t>ntrastive </a:t>
                      </a:r>
                      <a:r>
                        <a:rPr lang="en-GB" b="1" i="1" dirty="0">
                          <a:solidFill>
                            <a:schemeClr val="bg1"/>
                          </a:solidFill>
                        </a:rPr>
                        <a:t>Ca</a:t>
                      </a:r>
                      <a:r>
                        <a:rPr lang="en-GB" i="1" dirty="0">
                          <a:solidFill>
                            <a:schemeClr val="bg1"/>
                          </a:solidFill>
                        </a:rPr>
                        <a:t>ptioners </a:t>
                      </a:r>
                      <a:r>
                        <a:rPr lang="en-GB" b="0" i="0" u="none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en-GB" b="0" i="0" u="none" dirty="0" err="1">
                          <a:solidFill>
                            <a:schemeClr val="bg1"/>
                          </a:solidFill>
                        </a:rPr>
                        <a:t>CoCa</a:t>
                      </a:r>
                      <a:r>
                        <a:rPr lang="en-GB" b="0" i="0" u="none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en-GB" b="0" i="0" u="non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b="1" dirty="0"/>
                        <a:t>Vision-Language Models </a:t>
                      </a:r>
                      <a:r>
                        <a:rPr lang="en-GB" b="0" dirty="0"/>
                        <a:t>(VLMs)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27010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/>
                        <a:t>Vision Encoder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/>
                        <a:t>Trained from scratch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dirty="0"/>
                        <a:t>Pretrained (e.g., CLIP-</a:t>
                      </a:r>
                      <a:r>
                        <a:rPr lang="en-GB" dirty="0" err="1"/>
                        <a:t>ViT</a:t>
                      </a:r>
                      <a:r>
                        <a:rPr lang="en-GB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9618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dirty="0"/>
                        <a:t>Language Model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dirty="0"/>
                        <a:t>Trained from scratch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dirty="0" err="1"/>
                        <a:t>Pretrained</a:t>
                      </a:r>
                      <a:r>
                        <a:rPr lang="fr-FR" dirty="0"/>
                        <a:t> (e.g., </a:t>
                      </a:r>
                      <a:r>
                        <a:rPr lang="fr-FR" dirty="0" err="1"/>
                        <a:t>LLaMA</a:t>
                      </a:r>
                      <a:r>
                        <a:rPr lang="fr-FR" dirty="0"/>
                        <a:t>)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679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dirty="0"/>
                        <a:t>Connector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dirty="0"/>
                        <a:t>None (joint fusion)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dirty="0"/>
                        <a:t>Explicit projection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0967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dirty="0"/>
                        <a:t>Training Objective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dirty="0"/>
                        <a:t>Contrastive + Captioning (joint)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dirty="0"/>
                        <a:t>Alignment + instruction tuning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302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/>
                        <a:t>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/>
                        <a:t>End-to-end unified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dirty="0"/>
                        <a:t>Modular (vision + language + adapter)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2576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/>
                        <a:t>Flexibility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dirty="0"/>
                        <a:t>Less modular but efficient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dirty="0"/>
                        <a:t>Highly modular and extensible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0840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dirty="0"/>
                        <a:t>Compute Efficiency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/>
                        <a:t>Heavy one-time training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dirty="0"/>
                        <a:t>Cheaper fine-tuning with reused parts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8282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1480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EFBE6-6B62-80D3-A66D-8785FFEFD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CD111-7290-D4D0-9A7E-7187BF1D946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oundRect">
            <a:avLst/>
          </a:prstGeom>
          <a:solidFill>
            <a:schemeClr val="accent1"/>
          </a:solidFill>
        </p:spPr>
        <p:txBody>
          <a:bodyPr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Practical Tutorial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4F848C-0684-E160-13D6-2A4FE0C62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14F82-BE8C-4CA8-BA76-52B2F053D2D8}" type="slidenum">
              <a:rPr lang="en-GB" smtClean="0"/>
              <a:t>7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AE2182-036B-E050-344D-E15DEBB6E618}"/>
              </a:ext>
            </a:extLst>
          </p:cNvPr>
          <p:cNvSpPr txBox="1"/>
          <p:nvPr/>
        </p:nvSpPr>
        <p:spPr>
          <a:xfrm>
            <a:off x="1383555" y="3998808"/>
            <a:ext cx="94248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Please, open the following notebook:</a:t>
            </a:r>
          </a:p>
          <a:p>
            <a:pPr algn="ctr"/>
            <a:r>
              <a:rPr lang="en-GB" dirty="0">
                <a:hlinkClick r:id="rId2"/>
              </a:rPr>
              <a:t>https://colab.research.google.com/github/saturnMars/FM_2025/blob/main/Lab3_video.ipynb</a:t>
            </a:r>
            <a:endParaRPr lang="en-GB" dirty="0"/>
          </a:p>
        </p:txBody>
      </p:sp>
      <p:pic>
        <p:nvPicPr>
          <p:cNvPr id="6" name="Picture 5" descr="A logo with orange circles&#10;&#10;AI-generated content may be incorrect.">
            <a:extLst>
              <a:ext uri="{FF2B5EF4-FFF2-40B4-BE49-F238E27FC236}">
                <a16:creationId xmlns:a16="http://schemas.microsoft.com/office/drawing/2014/main" id="{42EF4BEA-FA4D-434C-3661-B3ADAD0715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7603" y="2506407"/>
            <a:ext cx="2116791" cy="13035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84286A7-F1C9-713A-F5FE-7E9657FCEF62}"/>
              </a:ext>
            </a:extLst>
          </p:cNvPr>
          <p:cNvSpPr txBox="1"/>
          <p:nvPr/>
        </p:nvSpPr>
        <p:spPr>
          <a:xfrm>
            <a:off x="5231094" y="5462511"/>
            <a:ext cx="2047346" cy="5847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 err="1"/>
              <a:t>CoCa</a:t>
            </a:r>
            <a:r>
              <a:rPr lang="en-GB" sz="1600" dirty="0"/>
              <a:t> versus </a:t>
            </a:r>
            <a:r>
              <a:rPr lang="en-GB" sz="1600" b="1" dirty="0"/>
              <a:t>VLMs</a:t>
            </a:r>
            <a:r>
              <a:rPr lang="en-GB" sz="1600" dirty="0"/>
              <a:t> using NLG metrics</a:t>
            </a:r>
          </a:p>
        </p:txBody>
      </p:sp>
    </p:spTree>
    <p:extLst>
      <p:ext uri="{BB962C8B-B14F-4D97-AF65-F5344CB8AC3E}">
        <p14:creationId xmlns:p14="http://schemas.microsoft.com/office/powerpoint/2010/main" val="3092847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ECF97-3E86-8493-F084-56EF2044B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70CF6-CF84-9FC3-4396-2FD6DD61552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oundRect">
            <a:avLst/>
          </a:prstGeom>
          <a:solidFill>
            <a:schemeClr val="accent1"/>
          </a:solidFill>
        </p:spPr>
        <p:txBody>
          <a:bodyPr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 QUIZ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B2CF99-9904-8FF7-EF7D-DE6EA4200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14F82-BE8C-4CA8-BA76-52B2F053D2D8}" type="slidenum">
              <a:rPr lang="en-GB" smtClean="0"/>
              <a:t>8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0972FA-13E9-2997-8BEB-D844B54EC51A}"/>
              </a:ext>
            </a:extLst>
          </p:cNvPr>
          <p:cNvSpPr txBox="1"/>
          <p:nvPr/>
        </p:nvSpPr>
        <p:spPr>
          <a:xfrm>
            <a:off x="6990637" y="3377187"/>
            <a:ext cx="34837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MENTI</a:t>
            </a:r>
            <a:r>
              <a:rPr lang="en-GB" sz="2000" b="1" dirty="0"/>
              <a:t> (</a:t>
            </a:r>
            <a:r>
              <a:rPr lang="en-GB" b="1" dirty="0"/>
              <a:t>2153 2489</a:t>
            </a:r>
            <a:r>
              <a:rPr lang="en-GB" sz="2000" b="1" dirty="0"/>
              <a:t>)</a:t>
            </a:r>
          </a:p>
          <a:p>
            <a:pPr algn="ctr"/>
            <a:r>
              <a:rPr lang="en-GB" sz="1600" dirty="0">
                <a:hlinkClick r:id="rId2"/>
              </a:rPr>
              <a:t>https://www.menti.com/al4ika5zijuu</a:t>
            </a:r>
            <a:endParaRPr lang="en-GB" sz="1600" dirty="0"/>
          </a:p>
        </p:txBody>
      </p:sp>
      <p:pic>
        <p:nvPicPr>
          <p:cNvPr id="7" name="Picture 6" descr="A qr code with a black and white background&#10;&#10;AI-generated content may be incorrect.">
            <a:extLst>
              <a:ext uri="{FF2B5EF4-FFF2-40B4-BE49-F238E27FC236}">
                <a16:creationId xmlns:a16="http://schemas.microsoft.com/office/drawing/2014/main" id="{1AE1E276-7711-9FE3-B025-F602D9B1A2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029" y="2003473"/>
            <a:ext cx="4437184" cy="4437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41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</TotalTime>
  <Words>525</Words>
  <Application>Microsoft Office PowerPoint</Application>
  <PresentationFormat>Widescreen</PresentationFormat>
  <Paragraphs>112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Consolas</vt:lpstr>
      <vt:lpstr>Wingdings</vt:lpstr>
      <vt:lpstr>Office Theme</vt:lpstr>
      <vt:lpstr>Foundation Models</vt:lpstr>
      <vt:lpstr>Overview</vt:lpstr>
      <vt:lpstr>Multi-modal setting: Video Captioning </vt:lpstr>
      <vt:lpstr>Approach: Contrastive Captioners</vt:lpstr>
      <vt:lpstr>Approach: Vision-Language Models (VLMs)</vt:lpstr>
      <vt:lpstr>Comparison</vt:lpstr>
      <vt:lpstr>Practical Tutorial</vt:lpstr>
      <vt:lpstr> QUIZ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Bronzini</dc:creator>
  <cp:lastModifiedBy>Marco Bronzini</cp:lastModifiedBy>
  <cp:revision>9</cp:revision>
  <dcterms:created xsi:type="dcterms:W3CDTF">2025-10-21T08:10:59Z</dcterms:created>
  <dcterms:modified xsi:type="dcterms:W3CDTF">2025-11-07T15:31:12Z</dcterms:modified>
</cp:coreProperties>
</file>