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61" r:id="rId4"/>
    <p:sldId id="278" r:id="rId5"/>
    <p:sldId id="277" r:id="rId6"/>
    <p:sldId id="279" r:id="rId7"/>
    <p:sldId id="269" r:id="rId8"/>
    <p:sldId id="27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4862"/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1918" autoAdjust="0"/>
  </p:normalViewPr>
  <p:slideViewPr>
    <p:cSldViewPr snapToGrid="0">
      <p:cViewPr varScale="1">
        <p:scale>
          <a:sx n="104" d="100"/>
          <a:sy n="104" d="100"/>
        </p:scale>
        <p:origin x="85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BEC8005-01E2-4B39-A2BE-C825DB04EC0F}" type="doc">
      <dgm:prSet loTypeId="urn:microsoft.com/office/officeart/2005/8/layout/vList5" loCatId="list" qsTypeId="urn:microsoft.com/office/officeart/2005/8/quickstyle/simple1" qsCatId="simple" csTypeId="urn:microsoft.com/office/officeart/2005/8/colors/accent2_3" csCatId="accent2" phldr="1"/>
      <dgm:spPr/>
      <dgm:t>
        <a:bodyPr/>
        <a:lstStyle/>
        <a:p>
          <a:endParaRPr lang="en-GB"/>
        </a:p>
      </dgm:t>
    </dgm:pt>
    <dgm:pt modelId="{A241C06F-6779-4FF3-9B9B-2173B3CC33AB}">
      <dgm:prSet phldrT="[Text]"/>
      <dgm:spPr/>
      <dgm:t>
        <a:bodyPr/>
        <a:lstStyle/>
        <a:p>
          <a:pPr>
            <a:buFont typeface="+mj-lt"/>
            <a:buAutoNum type="alphaLcParenR"/>
          </a:pPr>
          <a:r>
            <a:rPr lang="en-GB" b="1" dirty="0"/>
            <a:t>Lab 1</a:t>
          </a:r>
          <a:endParaRPr lang="en-GB" dirty="0"/>
        </a:p>
      </dgm:t>
    </dgm:pt>
    <dgm:pt modelId="{1F72EB91-BAD9-4C7C-90BE-86129D52850C}" type="parTrans" cxnId="{588BE7E4-DA2E-4B42-9EB4-26E0AC0494B7}">
      <dgm:prSet/>
      <dgm:spPr/>
      <dgm:t>
        <a:bodyPr/>
        <a:lstStyle/>
        <a:p>
          <a:endParaRPr lang="en-GB"/>
        </a:p>
      </dgm:t>
    </dgm:pt>
    <dgm:pt modelId="{112C531A-6C9C-4516-A5AE-43CD30579FFC}" type="sibTrans" cxnId="{588BE7E4-DA2E-4B42-9EB4-26E0AC0494B7}">
      <dgm:prSet/>
      <dgm:spPr/>
      <dgm:t>
        <a:bodyPr/>
        <a:lstStyle/>
        <a:p>
          <a:endParaRPr lang="en-GB"/>
        </a:p>
      </dgm:t>
    </dgm:pt>
    <dgm:pt modelId="{4484ADCE-692F-48F3-9A66-BF5BC34F1694}">
      <dgm:prSet/>
      <dgm:spPr/>
      <dgm:t>
        <a:bodyPr/>
        <a:lstStyle/>
        <a:p>
          <a:r>
            <a:rPr lang="en-GB" dirty="0">
              <a:sym typeface="Wingdings" panose="05000000000000000000" pitchFamily="2" charset="2"/>
            </a:rPr>
            <a:t>Metrics for Natural Language Generation (NLG)</a:t>
          </a:r>
        </a:p>
      </dgm:t>
    </dgm:pt>
    <dgm:pt modelId="{12606303-4B77-4E6C-A8B2-918B851A941F}" type="parTrans" cxnId="{22E09AF4-5F31-47B2-A1B9-43EFA345AEE7}">
      <dgm:prSet/>
      <dgm:spPr/>
      <dgm:t>
        <a:bodyPr/>
        <a:lstStyle/>
        <a:p>
          <a:endParaRPr lang="en-GB"/>
        </a:p>
      </dgm:t>
    </dgm:pt>
    <dgm:pt modelId="{1F6E3BEA-6433-4960-BE2B-63BCC5EC7577}" type="sibTrans" cxnId="{22E09AF4-5F31-47B2-A1B9-43EFA345AEE7}">
      <dgm:prSet/>
      <dgm:spPr/>
      <dgm:t>
        <a:bodyPr/>
        <a:lstStyle/>
        <a:p>
          <a:endParaRPr lang="en-GB"/>
        </a:p>
      </dgm:t>
    </dgm:pt>
    <dgm:pt modelId="{C9D6D584-EFD4-4BA2-BA5F-BC8B963F9ECC}">
      <dgm:prSet/>
      <dgm:spPr/>
      <dgm:t>
        <a:bodyPr/>
        <a:lstStyle/>
        <a:p>
          <a:r>
            <a:rPr lang="en-GB" dirty="0">
              <a:sym typeface="Wingdings" panose="05000000000000000000" pitchFamily="2" charset="2"/>
            </a:rPr>
            <a:t>Real-world use cases (MT, QA with RAG)</a:t>
          </a:r>
        </a:p>
      </dgm:t>
    </dgm:pt>
    <dgm:pt modelId="{B77F785C-1854-42DB-8899-27C5373601CC}" type="parTrans" cxnId="{1BB8ECBF-40E4-4C66-AA8D-7F380175D8AF}">
      <dgm:prSet/>
      <dgm:spPr/>
      <dgm:t>
        <a:bodyPr/>
        <a:lstStyle/>
        <a:p>
          <a:endParaRPr lang="en-GB"/>
        </a:p>
      </dgm:t>
    </dgm:pt>
    <dgm:pt modelId="{C4D99112-29C9-47F9-ADCA-E08436D47BF4}" type="sibTrans" cxnId="{1BB8ECBF-40E4-4C66-AA8D-7F380175D8AF}">
      <dgm:prSet/>
      <dgm:spPr/>
      <dgm:t>
        <a:bodyPr/>
        <a:lstStyle/>
        <a:p>
          <a:endParaRPr lang="en-GB"/>
        </a:p>
      </dgm:t>
    </dgm:pt>
    <dgm:pt modelId="{6F6D1AD8-3760-42BD-BA43-D490240C4C54}">
      <dgm:prSet/>
      <dgm:spPr/>
      <dgm:t>
        <a:bodyPr/>
        <a:lstStyle/>
        <a:p>
          <a:r>
            <a:rPr lang="en-GB" b="1" dirty="0">
              <a:sym typeface="Wingdings" panose="05000000000000000000" pitchFamily="2" charset="2"/>
            </a:rPr>
            <a:t>Lab 2</a:t>
          </a:r>
          <a:endParaRPr lang="en-GB" b="0" dirty="0">
            <a:sym typeface="Wingdings" panose="05000000000000000000" pitchFamily="2" charset="2"/>
          </a:endParaRPr>
        </a:p>
      </dgm:t>
    </dgm:pt>
    <dgm:pt modelId="{5E050F09-A4D2-461A-84D3-8A8458F9EF1C}" type="parTrans" cxnId="{5130D76F-59B7-4FC7-A0C1-E6A118584FFD}">
      <dgm:prSet/>
      <dgm:spPr/>
      <dgm:t>
        <a:bodyPr/>
        <a:lstStyle/>
        <a:p>
          <a:endParaRPr lang="en-GB"/>
        </a:p>
      </dgm:t>
    </dgm:pt>
    <dgm:pt modelId="{A96AAA6C-C1DA-416C-9D10-022A50C77F07}" type="sibTrans" cxnId="{5130D76F-59B7-4FC7-A0C1-E6A118584FFD}">
      <dgm:prSet/>
      <dgm:spPr/>
      <dgm:t>
        <a:bodyPr/>
        <a:lstStyle/>
        <a:p>
          <a:endParaRPr lang="en-GB"/>
        </a:p>
      </dgm:t>
    </dgm:pt>
    <dgm:pt modelId="{BF961A8E-94C3-44F1-8116-36F072CDB63A}">
      <dgm:prSet/>
      <dgm:spPr/>
      <dgm:t>
        <a:bodyPr/>
        <a:lstStyle/>
        <a:p>
          <a:r>
            <a:rPr lang="en-GB" b="1" dirty="0">
              <a:sym typeface="Wingdings" panose="05000000000000000000" pitchFamily="2" charset="2"/>
            </a:rPr>
            <a:t>Lab 3</a:t>
          </a:r>
          <a:endParaRPr lang="en-GB" dirty="0">
            <a:sym typeface="Wingdings" panose="05000000000000000000" pitchFamily="2" charset="2"/>
          </a:endParaRPr>
        </a:p>
      </dgm:t>
    </dgm:pt>
    <dgm:pt modelId="{82F6733A-01A9-41C9-A7A4-C6F481D3E41F}" type="parTrans" cxnId="{D2E17B25-F339-4537-A910-CFB5A660B0FA}">
      <dgm:prSet/>
      <dgm:spPr/>
      <dgm:t>
        <a:bodyPr/>
        <a:lstStyle/>
        <a:p>
          <a:endParaRPr lang="en-GB"/>
        </a:p>
      </dgm:t>
    </dgm:pt>
    <dgm:pt modelId="{62E63264-2F60-451B-894D-11209674F11E}" type="sibTrans" cxnId="{D2E17B25-F339-4537-A910-CFB5A660B0FA}">
      <dgm:prSet/>
      <dgm:spPr/>
      <dgm:t>
        <a:bodyPr/>
        <a:lstStyle/>
        <a:p>
          <a:endParaRPr lang="en-GB"/>
        </a:p>
      </dgm:t>
    </dgm:pt>
    <dgm:pt modelId="{4FD09829-EAF9-4305-B976-205229E2AFEB}">
      <dgm:prSet/>
      <dgm:spPr/>
      <dgm:t>
        <a:bodyPr/>
        <a:lstStyle/>
        <a:p>
          <a:r>
            <a:rPr lang="en-GB" b="1" dirty="0">
              <a:sym typeface="Wingdings" panose="05000000000000000000" pitchFamily="2" charset="2"/>
            </a:rPr>
            <a:t>Lab 4</a:t>
          </a:r>
          <a:endParaRPr lang="en-GB" dirty="0">
            <a:sym typeface="Wingdings" panose="05000000000000000000" pitchFamily="2" charset="2"/>
          </a:endParaRPr>
        </a:p>
      </dgm:t>
    </dgm:pt>
    <dgm:pt modelId="{E04D111A-77A8-4ABC-A7FA-508D07A096EB}" type="parTrans" cxnId="{270A8E2B-FC88-4B5E-8ED7-CFF53046C77F}">
      <dgm:prSet/>
      <dgm:spPr/>
      <dgm:t>
        <a:bodyPr/>
        <a:lstStyle/>
        <a:p>
          <a:endParaRPr lang="en-GB"/>
        </a:p>
      </dgm:t>
    </dgm:pt>
    <dgm:pt modelId="{F59E4B2D-04AC-4BD1-9FB1-AA74B0D4E1A2}" type="sibTrans" cxnId="{270A8E2B-FC88-4B5E-8ED7-CFF53046C77F}">
      <dgm:prSet/>
      <dgm:spPr/>
      <dgm:t>
        <a:bodyPr/>
        <a:lstStyle/>
        <a:p>
          <a:endParaRPr lang="en-GB"/>
        </a:p>
      </dgm:t>
    </dgm:pt>
    <dgm:pt modelId="{CC9BF835-312C-4B42-9CAB-98E06C29111F}">
      <dgm:prSet/>
      <dgm:spPr/>
      <dgm:t>
        <a:bodyPr/>
        <a:lstStyle/>
        <a:p>
          <a:r>
            <a:rPr lang="en-GB" dirty="0">
              <a:sym typeface="Wingdings" panose="05000000000000000000" pitchFamily="2" charset="2"/>
            </a:rPr>
            <a:t>Extract latent features from LLM embeddings by training a classification model</a:t>
          </a:r>
        </a:p>
      </dgm:t>
    </dgm:pt>
    <dgm:pt modelId="{2C96A3C5-9D6B-4F13-A726-F2C676C8EFDC}" type="parTrans" cxnId="{F33F1AE0-A890-4C8F-99E0-ADB27DECF7F1}">
      <dgm:prSet/>
      <dgm:spPr/>
      <dgm:t>
        <a:bodyPr/>
        <a:lstStyle/>
        <a:p>
          <a:endParaRPr lang="en-GB"/>
        </a:p>
      </dgm:t>
    </dgm:pt>
    <dgm:pt modelId="{1224BA17-F6B0-461D-ACD8-55569CC65FF8}" type="sibTrans" cxnId="{F33F1AE0-A890-4C8F-99E0-ADB27DECF7F1}">
      <dgm:prSet/>
      <dgm:spPr/>
      <dgm:t>
        <a:bodyPr/>
        <a:lstStyle/>
        <a:p>
          <a:endParaRPr lang="en-GB"/>
        </a:p>
      </dgm:t>
    </dgm:pt>
    <dgm:pt modelId="{DC77F906-A95D-49FE-803A-C75EBF167482}">
      <dgm:prSet/>
      <dgm:spPr/>
      <dgm:t>
        <a:bodyPr/>
        <a:lstStyle/>
        <a:p>
          <a:r>
            <a:rPr lang="en-GB" dirty="0">
              <a:sym typeface="Wingdings" panose="05000000000000000000" pitchFamily="2" charset="2"/>
            </a:rPr>
            <a:t>Generate video captions using:</a:t>
          </a:r>
        </a:p>
      </dgm:t>
    </dgm:pt>
    <dgm:pt modelId="{E9E8FD34-0A04-4B66-B869-2DBB8785700D}" type="parTrans" cxnId="{4EDE3EB5-AFE8-4F63-BF08-51F94AD391A9}">
      <dgm:prSet/>
      <dgm:spPr/>
      <dgm:t>
        <a:bodyPr/>
        <a:lstStyle/>
        <a:p>
          <a:endParaRPr lang="en-GB"/>
        </a:p>
      </dgm:t>
    </dgm:pt>
    <dgm:pt modelId="{762132B3-2A1B-443C-B8DD-511463AB6D13}" type="sibTrans" cxnId="{4EDE3EB5-AFE8-4F63-BF08-51F94AD391A9}">
      <dgm:prSet/>
      <dgm:spPr/>
      <dgm:t>
        <a:bodyPr/>
        <a:lstStyle/>
        <a:p>
          <a:endParaRPr lang="en-GB"/>
        </a:p>
      </dgm:t>
    </dgm:pt>
    <dgm:pt modelId="{1B3DFF26-0C22-4786-8B7F-F52B28775128}">
      <dgm:prSet/>
      <dgm:spPr/>
      <dgm:t>
        <a:bodyPr/>
        <a:lstStyle/>
        <a:p>
          <a:pPr>
            <a:buFont typeface="+mj-lt"/>
            <a:buAutoNum type="alphaLcParenR"/>
          </a:pPr>
          <a:r>
            <a:rPr lang="en-GB" dirty="0">
              <a:sym typeface="Wingdings" panose="05000000000000000000" pitchFamily="2" charset="2"/>
            </a:rPr>
            <a:t> CLIP-inspired models </a:t>
          </a:r>
          <a:r>
            <a:rPr lang="en-GB" b="0" dirty="0">
              <a:sym typeface="Wingdings" panose="05000000000000000000" pitchFamily="2" charset="2"/>
            </a:rPr>
            <a:t>(</a:t>
          </a:r>
          <a:r>
            <a:rPr lang="en-GB" b="1" dirty="0">
              <a:sym typeface="Wingdings" panose="05000000000000000000" pitchFamily="2" charset="2"/>
            </a:rPr>
            <a:t>Co</a:t>
          </a:r>
          <a:r>
            <a:rPr lang="en-GB" b="0" i="0" dirty="0"/>
            <a:t>ntrastive </a:t>
          </a:r>
          <a:r>
            <a:rPr lang="en-GB" b="1" i="0" u="none" dirty="0"/>
            <a:t>Ca</a:t>
          </a:r>
          <a:r>
            <a:rPr lang="en-GB" b="0" i="0" dirty="0"/>
            <a:t>ptioners)</a:t>
          </a:r>
          <a:endParaRPr lang="en-GB" dirty="0">
            <a:sym typeface="Wingdings" panose="05000000000000000000" pitchFamily="2" charset="2"/>
          </a:endParaRPr>
        </a:p>
      </dgm:t>
    </dgm:pt>
    <dgm:pt modelId="{3685AAA5-D119-42BB-8E8B-F3B75C4F7D8E}" type="parTrans" cxnId="{3ED3A3CA-CB7B-4AEB-8956-590DB71ABBCE}">
      <dgm:prSet/>
      <dgm:spPr/>
      <dgm:t>
        <a:bodyPr/>
        <a:lstStyle/>
        <a:p>
          <a:endParaRPr lang="en-GB"/>
        </a:p>
      </dgm:t>
    </dgm:pt>
    <dgm:pt modelId="{C653B06E-9B93-471A-ACD0-42EB318427ED}" type="sibTrans" cxnId="{3ED3A3CA-CB7B-4AEB-8956-590DB71ABBCE}">
      <dgm:prSet/>
      <dgm:spPr/>
      <dgm:t>
        <a:bodyPr/>
        <a:lstStyle/>
        <a:p>
          <a:endParaRPr lang="en-GB"/>
        </a:p>
      </dgm:t>
    </dgm:pt>
    <dgm:pt modelId="{BD56097E-4F68-499F-96C4-48E28006D21D}">
      <dgm:prSet/>
      <dgm:spPr/>
      <dgm:t>
        <a:bodyPr/>
        <a:lstStyle/>
        <a:p>
          <a:pPr>
            <a:buFont typeface="+mj-lt"/>
            <a:buAutoNum type="alphaLcParenR"/>
          </a:pPr>
          <a:r>
            <a:rPr lang="en-GB" b="0" i="0" dirty="0"/>
            <a:t> Vision-Language Models (</a:t>
          </a:r>
          <a:r>
            <a:rPr lang="en-GB" b="1" dirty="0">
              <a:sym typeface="Wingdings" panose="05000000000000000000" pitchFamily="2" charset="2"/>
            </a:rPr>
            <a:t>VLMs</a:t>
          </a:r>
          <a:r>
            <a:rPr lang="en-GB" dirty="0">
              <a:sym typeface="Wingdings" panose="05000000000000000000" pitchFamily="2" charset="2"/>
            </a:rPr>
            <a:t>)</a:t>
          </a:r>
        </a:p>
      </dgm:t>
    </dgm:pt>
    <dgm:pt modelId="{38EAD2D0-D685-4CF9-B772-BC392F486F0C}" type="parTrans" cxnId="{2D47B57B-A0B7-42B4-A7C5-F0C8D0B08760}">
      <dgm:prSet/>
      <dgm:spPr/>
      <dgm:t>
        <a:bodyPr/>
        <a:lstStyle/>
        <a:p>
          <a:endParaRPr lang="en-GB"/>
        </a:p>
      </dgm:t>
    </dgm:pt>
    <dgm:pt modelId="{2D3473B5-E576-415C-96FA-2E47B21B9885}" type="sibTrans" cxnId="{2D47B57B-A0B7-42B4-A7C5-F0C8D0B08760}">
      <dgm:prSet/>
      <dgm:spPr/>
      <dgm:t>
        <a:bodyPr/>
        <a:lstStyle/>
        <a:p>
          <a:endParaRPr lang="en-GB"/>
        </a:p>
      </dgm:t>
    </dgm:pt>
    <dgm:pt modelId="{1E4747B3-B77A-4BA9-B05F-D6EA1112888F}">
      <dgm:prSet/>
      <dgm:spPr/>
      <dgm:t>
        <a:bodyPr/>
        <a:lstStyle/>
        <a:p>
          <a:r>
            <a:rPr lang="en-GB" dirty="0">
              <a:sym typeface="Wingdings" panose="05000000000000000000" pitchFamily="2" charset="2"/>
            </a:rPr>
            <a:t>Agents using </a:t>
          </a:r>
          <a:r>
            <a:rPr lang="en-GB" i="1" dirty="0" err="1">
              <a:sym typeface="Wingdings" panose="05000000000000000000" pitchFamily="2" charset="2"/>
            </a:rPr>
            <a:t>LangChain</a:t>
          </a:r>
          <a:endParaRPr lang="en-GB" i="1" dirty="0">
            <a:sym typeface="Wingdings" panose="05000000000000000000" pitchFamily="2" charset="2"/>
          </a:endParaRPr>
        </a:p>
      </dgm:t>
    </dgm:pt>
    <dgm:pt modelId="{4FE5EEA2-ACA0-43E0-8A09-D1AAF1B3BC38}" type="parTrans" cxnId="{BE05EDC8-C7F7-4E55-B52F-4D9DB143E19B}">
      <dgm:prSet/>
      <dgm:spPr/>
      <dgm:t>
        <a:bodyPr/>
        <a:lstStyle/>
        <a:p>
          <a:endParaRPr lang="en-GB"/>
        </a:p>
      </dgm:t>
    </dgm:pt>
    <dgm:pt modelId="{429770D5-031C-4D7F-BEE7-A5C4C462777F}" type="sibTrans" cxnId="{BE05EDC8-C7F7-4E55-B52F-4D9DB143E19B}">
      <dgm:prSet/>
      <dgm:spPr/>
      <dgm:t>
        <a:bodyPr/>
        <a:lstStyle/>
        <a:p>
          <a:endParaRPr lang="en-GB"/>
        </a:p>
      </dgm:t>
    </dgm:pt>
    <dgm:pt modelId="{EE249007-5FDA-48F2-8570-46B855298B4B}" type="pres">
      <dgm:prSet presAssocID="{3BEC8005-01E2-4B39-A2BE-C825DB04EC0F}" presName="Name0" presStyleCnt="0">
        <dgm:presLayoutVars>
          <dgm:dir/>
          <dgm:animLvl val="lvl"/>
          <dgm:resizeHandles val="exact"/>
        </dgm:presLayoutVars>
      </dgm:prSet>
      <dgm:spPr/>
    </dgm:pt>
    <dgm:pt modelId="{0D4E9901-A437-49A6-8024-729C8EB31B03}" type="pres">
      <dgm:prSet presAssocID="{A241C06F-6779-4FF3-9B9B-2173B3CC33AB}" presName="linNode" presStyleCnt="0"/>
      <dgm:spPr/>
    </dgm:pt>
    <dgm:pt modelId="{D2D95DBE-29CF-4946-89A9-505D28192EAD}" type="pres">
      <dgm:prSet presAssocID="{A241C06F-6779-4FF3-9B9B-2173B3CC33AB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C703C51F-A0AA-4FDD-BCE8-EB48429F9425}" type="pres">
      <dgm:prSet presAssocID="{A241C06F-6779-4FF3-9B9B-2173B3CC33AB}" presName="descendantText" presStyleLbl="alignAccFollowNode1" presStyleIdx="0" presStyleCnt="4">
        <dgm:presLayoutVars>
          <dgm:bulletEnabled val="1"/>
        </dgm:presLayoutVars>
      </dgm:prSet>
      <dgm:spPr/>
    </dgm:pt>
    <dgm:pt modelId="{486BC1E0-EA68-419B-AB80-A9373E8C6D9C}" type="pres">
      <dgm:prSet presAssocID="{112C531A-6C9C-4516-A5AE-43CD30579FFC}" presName="sp" presStyleCnt="0"/>
      <dgm:spPr/>
    </dgm:pt>
    <dgm:pt modelId="{33ADD192-645A-4754-8C89-CC457237F970}" type="pres">
      <dgm:prSet presAssocID="{6F6D1AD8-3760-42BD-BA43-D490240C4C54}" presName="linNode" presStyleCnt="0"/>
      <dgm:spPr/>
    </dgm:pt>
    <dgm:pt modelId="{930D32B7-497C-49CE-9A7A-D9C21BD5A0CA}" type="pres">
      <dgm:prSet presAssocID="{6F6D1AD8-3760-42BD-BA43-D490240C4C54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6A911036-7D2C-451D-B2DB-6F0BF0898267}" type="pres">
      <dgm:prSet presAssocID="{6F6D1AD8-3760-42BD-BA43-D490240C4C54}" presName="descendantText" presStyleLbl="alignAccFollowNode1" presStyleIdx="1" presStyleCnt="4">
        <dgm:presLayoutVars>
          <dgm:bulletEnabled val="1"/>
        </dgm:presLayoutVars>
      </dgm:prSet>
      <dgm:spPr/>
    </dgm:pt>
    <dgm:pt modelId="{24E8D70C-B926-4839-A4AD-F5D83F8660BC}" type="pres">
      <dgm:prSet presAssocID="{A96AAA6C-C1DA-416C-9D10-022A50C77F07}" presName="sp" presStyleCnt="0"/>
      <dgm:spPr/>
    </dgm:pt>
    <dgm:pt modelId="{E391C399-9D03-4352-974D-2BE6D285312E}" type="pres">
      <dgm:prSet presAssocID="{BF961A8E-94C3-44F1-8116-36F072CDB63A}" presName="linNode" presStyleCnt="0"/>
      <dgm:spPr/>
    </dgm:pt>
    <dgm:pt modelId="{0BF88898-2EBC-4BA2-AD7B-929448E6CACB}" type="pres">
      <dgm:prSet presAssocID="{BF961A8E-94C3-44F1-8116-36F072CDB63A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C117354A-7087-430D-954A-AD768EC743FE}" type="pres">
      <dgm:prSet presAssocID="{BF961A8E-94C3-44F1-8116-36F072CDB63A}" presName="descendantText" presStyleLbl="alignAccFollowNode1" presStyleIdx="2" presStyleCnt="4">
        <dgm:presLayoutVars>
          <dgm:bulletEnabled val="1"/>
        </dgm:presLayoutVars>
      </dgm:prSet>
      <dgm:spPr/>
    </dgm:pt>
    <dgm:pt modelId="{CDBFE90A-A2DD-4496-8638-0DD789AD0E03}" type="pres">
      <dgm:prSet presAssocID="{62E63264-2F60-451B-894D-11209674F11E}" presName="sp" presStyleCnt="0"/>
      <dgm:spPr/>
    </dgm:pt>
    <dgm:pt modelId="{594C530B-3D67-496B-8F75-2EBB6A9B0690}" type="pres">
      <dgm:prSet presAssocID="{4FD09829-EAF9-4305-B976-205229E2AFEB}" presName="linNode" presStyleCnt="0"/>
      <dgm:spPr/>
    </dgm:pt>
    <dgm:pt modelId="{C2ABA2AD-10D3-4A22-A97E-DF4E4CC5E200}" type="pres">
      <dgm:prSet presAssocID="{4FD09829-EAF9-4305-B976-205229E2AFEB}" presName="parentText" presStyleLbl="node1" presStyleIdx="3" presStyleCnt="4">
        <dgm:presLayoutVars>
          <dgm:chMax val="1"/>
          <dgm:bulletEnabled val="1"/>
        </dgm:presLayoutVars>
      </dgm:prSet>
      <dgm:spPr/>
    </dgm:pt>
    <dgm:pt modelId="{1CE57D84-950D-4B08-A19A-F8C337F519E7}" type="pres">
      <dgm:prSet presAssocID="{4FD09829-EAF9-4305-B976-205229E2AFEB}" presName="descendantText" presStyleLbl="alignAccFollowNode1" presStyleIdx="3" presStyleCnt="4">
        <dgm:presLayoutVars>
          <dgm:bulletEnabled val="1"/>
        </dgm:presLayoutVars>
      </dgm:prSet>
      <dgm:spPr/>
    </dgm:pt>
  </dgm:ptLst>
  <dgm:cxnLst>
    <dgm:cxn modelId="{18C4CD00-AA2F-4FC0-A052-D13C6594C96A}" type="presOf" srcId="{4FD09829-EAF9-4305-B976-205229E2AFEB}" destId="{C2ABA2AD-10D3-4A22-A97E-DF4E4CC5E200}" srcOrd="0" destOrd="0" presId="urn:microsoft.com/office/officeart/2005/8/layout/vList5"/>
    <dgm:cxn modelId="{17368A1C-9E04-4B6B-9007-A57D5F607753}" type="presOf" srcId="{3BEC8005-01E2-4B39-A2BE-C825DB04EC0F}" destId="{EE249007-5FDA-48F2-8570-46B855298B4B}" srcOrd="0" destOrd="0" presId="urn:microsoft.com/office/officeart/2005/8/layout/vList5"/>
    <dgm:cxn modelId="{D2E17B25-F339-4537-A910-CFB5A660B0FA}" srcId="{3BEC8005-01E2-4B39-A2BE-C825DB04EC0F}" destId="{BF961A8E-94C3-44F1-8116-36F072CDB63A}" srcOrd="2" destOrd="0" parTransId="{82F6733A-01A9-41C9-A7A4-C6F481D3E41F}" sibTransId="{62E63264-2F60-451B-894D-11209674F11E}"/>
    <dgm:cxn modelId="{270A8E2B-FC88-4B5E-8ED7-CFF53046C77F}" srcId="{3BEC8005-01E2-4B39-A2BE-C825DB04EC0F}" destId="{4FD09829-EAF9-4305-B976-205229E2AFEB}" srcOrd="3" destOrd="0" parTransId="{E04D111A-77A8-4ABC-A7FA-508D07A096EB}" sibTransId="{F59E4B2D-04AC-4BD1-9FB1-AA74B0D4E1A2}"/>
    <dgm:cxn modelId="{E9E8EA5E-D750-48A7-B896-820B600D52D8}" type="presOf" srcId="{CC9BF835-312C-4B42-9CAB-98E06C29111F}" destId="{6A911036-7D2C-451D-B2DB-6F0BF0898267}" srcOrd="0" destOrd="0" presId="urn:microsoft.com/office/officeart/2005/8/layout/vList5"/>
    <dgm:cxn modelId="{0359FA61-8D2E-4F61-B93C-0B61E723BB40}" type="presOf" srcId="{A241C06F-6779-4FF3-9B9B-2173B3CC33AB}" destId="{D2D95DBE-29CF-4946-89A9-505D28192EAD}" srcOrd="0" destOrd="0" presId="urn:microsoft.com/office/officeart/2005/8/layout/vList5"/>
    <dgm:cxn modelId="{5130D76F-59B7-4FC7-A0C1-E6A118584FFD}" srcId="{3BEC8005-01E2-4B39-A2BE-C825DB04EC0F}" destId="{6F6D1AD8-3760-42BD-BA43-D490240C4C54}" srcOrd="1" destOrd="0" parTransId="{5E050F09-A4D2-461A-84D3-8A8458F9EF1C}" sibTransId="{A96AAA6C-C1DA-416C-9D10-022A50C77F07}"/>
    <dgm:cxn modelId="{2D47B57B-A0B7-42B4-A7C5-F0C8D0B08760}" srcId="{DC77F906-A95D-49FE-803A-C75EBF167482}" destId="{BD56097E-4F68-499F-96C4-48E28006D21D}" srcOrd="1" destOrd="0" parTransId="{38EAD2D0-D685-4CF9-B772-BC392F486F0C}" sibTransId="{2D3473B5-E576-415C-96FA-2E47B21B9885}"/>
    <dgm:cxn modelId="{6644B381-C8D6-45A5-BD30-700BDB4B7851}" type="presOf" srcId="{C9D6D584-EFD4-4BA2-BA5F-BC8B963F9ECC}" destId="{C703C51F-A0AA-4FDD-BCE8-EB48429F9425}" srcOrd="0" destOrd="1" presId="urn:microsoft.com/office/officeart/2005/8/layout/vList5"/>
    <dgm:cxn modelId="{0F38179F-779B-48D9-BBDE-D99A2D1DD9FC}" type="presOf" srcId="{4484ADCE-692F-48F3-9A66-BF5BC34F1694}" destId="{C703C51F-A0AA-4FDD-BCE8-EB48429F9425}" srcOrd="0" destOrd="0" presId="urn:microsoft.com/office/officeart/2005/8/layout/vList5"/>
    <dgm:cxn modelId="{2B9B639F-F8F8-401C-86DC-D7D246502451}" type="presOf" srcId="{BD56097E-4F68-499F-96C4-48E28006D21D}" destId="{C117354A-7087-430D-954A-AD768EC743FE}" srcOrd="0" destOrd="2" presId="urn:microsoft.com/office/officeart/2005/8/layout/vList5"/>
    <dgm:cxn modelId="{700B52AF-34E1-46E6-B9A9-3DB4738A97A6}" type="presOf" srcId="{1B3DFF26-0C22-4786-8B7F-F52B28775128}" destId="{C117354A-7087-430D-954A-AD768EC743FE}" srcOrd="0" destOrd="1" presId="urn:microsoft.com/office/officeart/2005/8/layout/vList5"/>
    <dgm:cxn modelId="{4EDE3EB5-AFE8-4F63-BF08-51F94AD391A9}" srcId="{BF961A8E-94C3-44F1-8116-36F072CDB63A}" destId="{DC77F906-A95D-49FE-803A-C75EBF167482}" srcOrd="0" destOrd="0" parTransId="{E9E8FD34-0A04-4B66-B869-2DBB8785700D}" sibTransId="{762132B3-2A1B-443C-B8DD-511463AB6D13}"/>
    <dgm:cxn modelId="{726D3BB8-1991-4549-9E89-A7007CF55593}" type="presOf" srcId="{1E4747B3-B77A-4BA9-B05F-D6EA1112888F}" destId="{1CE57D84-950D-4B08-A19A-F8C337F519E7}" srcOrd="0" destOrd="0" presId="urn:microsoft.com/office/officeart/2005/8/layout/vList5"/>
    <dgm:cxn modelId="{5AF7F7BB-E8FF-46A4-86BC-5C645A390AA2}" type="presOf" srcId="{BF961A8E-94C3-44F1-8116-36F072CDB63A}" destId="{0BF88898-2EBC-4BA2-AD7B-929448E6CACB}" srcOrd="0" destOrd="0" presId="urn:microsoft.com/office/officeart/2005/8/layout/vList5"/>
    <dgm:cxn modelId="{1BB8ECBF-40E4-4C66-AA8D-7F380175D8AF}" srcId="{A241C06F-6779-4FF3-9B9B-2173B3CC33AB}" destId="{C9D6D584-EFD4-4BA2-BA5F-BC8B963F9ECC}" srcOrd="1" destOrd="0" parTransId="{B77F785C-1854-42DB-8899-27C5373601CC}" sibTransId="{C4D99112-29C9-47F9-ADCA-E08436D47BF4}"/>
    <dgm:cxn modelId="{BE05EDC8-C7F7-4E55-B52F-4D9DB143E19B}" srcId="{4FD09829-EAF9-4305-B976-205229E2AFEB}" destId="{1E4747B3-B77A-4BA9-B05F-D6EA1112888F}" srcOrd="0" destOrd="0" parTransId="{4FE5EEA2-ACA0-43E0-8A09-D1AAF1B3BC38}" sibTransId="{429770D5-031C-4D7F-BEE7-A5C4C462777F}"/>
    <dgm:cxn modelId="{3ED3A3CA-CB7B-4AEB-8956-590DB71ABBCE}" srcId="{DC77F906-A95D-49FE-803A-C75EBF167482}" destId="{1B3DFF26-0C22-4786-8B7F-F52B28775128}" srcOrd="0" destOrd="0" parTransId="{3685AAA5-D119-42BB-8E8B-F3B75C4F7D8E}" sibTransId="{C653B06E-9B93-471A-ACD0-42EB318427ED}"/>
    <dgm:cxn modelId="{F23936D2-9D46-4621-9378-E081C8CDB2B8}" type="presOf" srcId="{DC77F906-A95D-49FE-803A-C75EBF167482}" destId="{C117354A-7087-430D-954A-AD768EC743FE}" srcOrd="0" destOrd="0" presId="urn:microsoft.com/office/officeart/2005/8/layout/vList5"/>
    <dgm:cxn modelId="{F33F1AE0-A890-4C8F-99E0-ADB27DECF7F1}" srcId="{6F6D1AD8-3760-42BD-BA43-D490240C4C54}" destId="{CC9BF835-312C-4B42-9CAB-98E06C29111F}" srcOrd="0" destOrd="0" parTransId="{2C96A3C5-9D6B-4F13-A726-F2C676C8EFDC}" sibTransId="{1224BA17-F6B0-461D-ACD8-55569CC65FF8}"/>
    <dgm:cxn modelId="{588BE7E4-DA2E-4B42-9EB4-26E0AC0494B7}" srcId="{3BEC8005-01E2-4B39-A2BE-C825DB04EC0F}" destId="{A241C06F-6779-4FF3-9B9B-2173B3CC33AB}" srcOrd="0" destOrd="0" parTransId="{1F72EB91-BAD9-4C7C-90BE-86129D52850C}" sibTransId="{112C531A-6C9C-4516-A5AE-43CD30579FFC}"/>
    <dgm:cxn modelId="{956D4BF0-C6E3-4CF6-B7E6-28E4F06CC832}" type="presOf" srcId="{6F6D1AD8-3760-42BD-BA43-D490240C4C54}" destId="{930D32B7-497C-49CE-9A7A-D9C21BD5A0CA}" srcOrd="0" destOrd="0" presId="urn:microsoft.com/office/officeart/2005/8/layout/vList5"/>
    <dgm:cxn modelId="{22E09AF4-5F31-47B2-A1B9-43EFA345AEE7}" srcId="{A241C06F-6779-4FF3-9B9B-2173B3CC33AB}" destId="{4484ADCE-692F-48F3-9A66-BF5BC34F1694}" srcOrd="0" destOrd="0" parTransId="{12606303-4B77-4E6C-A8B2-918B851A941F}" sibTransId="{1F6E3BEA-6433-4960-BE2B-63BCC5EC7577}"/>
    <dgm:cxn modelId="{21346A37-2E95-4766-8299-60B931CC98D6}" type="presParOf" srcId="{EE249007-5FDA-48F2-8570-46B855298B4B}" destId="{0D4E9901-A437-49A6-8024-729C8EB31B03}" srcOrd="0" destOrd="0" presId="urn:microsoft.com/office/officeart/2005/8/layout/vList5"/>
    <dgm:cxn modelId="{7512B22E-DD93-4C61-A35E-523D7E9B0D8C}" type="presParOf" srcId="{0D4E9901-A437-49A6-8024-729C8EB31B03}" destId="{D2D95DBE-29CF-4946-89A9-505D28192EAD}" srcOrd="0" destOrd="0" presId="urn:microsoft.com/office/officeart/2005/8/layout/vList5"/>
    <dgm:cxn modelId="{E64C7FD1-A0A5-4858-9831-563259C2723C}" type="presParOf" srcId="{0D4E9901-A437-49A6-8024-729C8EB31B03}" destId="{C703C51F-A0AA-4FDD-BCE8-EB48429F9425}" srcOrd="1" destOrd="0" presId="urn:microsoft.com/office/officeart/2005/8/layout/vList5"/>
    <dgm:cxn modelId="{3FDD37BD-33CF-4487-9A43-4A866DA4F799}" type="presParOf" srcId="{EE249007-5FDA-48F2-8570-46B855298B4B}" destId="{486BC1E0-EA68-419B-AB80-A9373E8C6D9C}" srcOrd="1" destOrd="0" presId="urn:microsoft.com/office/officeart/2005/8/layout/vList5"/>
    <dgm:cxn modelId="{6FD2F7E1-DB2E-410D-9874-62EB5E95DD09}" type="presParOf" srcId="{EE249007-5FDA-48F2-8570-46B855298B4B}" destId="{33ADD192-645A-4754-8C89-CC457237F970}" srcOrd="2" destOrd="0" presId="urn:microsoft.com/office/officeart/2005/8/layout/vList5"/>
    <dgm:cxn modelId="{1C8089D7-D7B3-4604-BF03-008B6D92FCF4}" type="presParOf" srcId="{33ADD192-645A-4754-8C89-CC457237F970}" destId="{930D32B7-497C-49CE-9A7A-D9C21BD5A0CA}" srcOrd="0" destOrd="0" presId="urn:microsoft.com/office/officeart/2005/8/layout/vList5"/>
    <dgm:cxn modelId="{07B1F2FD-51C4-419D-887F-1B293FA3A594}" type="presParOf" srcId="{33ADD192-645A-4754-8C89-CC457237F970}" destId="{6A911036-7D2C-451D-B2DB-6F0BF0898267}" srcOrd="1" destOrd="0" presId="urn:microsoft.com/office/officeart/2005/8/layout/vList5"/>
    <dgm:cxn modelId="{65BBCA59-F557-4EF6-BD5A-8A54D08B1296}" type="presParOf" srcId="{EE249007-5FDA-48F2-8570-46B855298B4B}" destId="{24E8D70C-B926-4839-A4AD-F5D83F8660BC}" srcOrd="3" destOrd="0" presId="urn:microsoft.com/office/officeart/2005/8/layout/vList5"/>
    <dgm:cxn modelId="{3EC7EA3A-A3B9-4CA1-8B59-33050CDC5448}" type="presParOf" srcId="{EE249007-5FDA-48F2-8570-46B855298B4B}" destId="{E391C399-9D03-4352-974D-2BE6D285312E}" srcOrd="4" destOrd="0" presId="urn:microsoft.com/office/officeart/2005/8/layout/vList5"/>
    <dgm:cxn modelId="{5D9D4B8B-5845-4F33-B0D1-446EFF1AC81F}" type="presParOf" srcId="{E391C399-9D03-4352-974D-2BE6D285312E}" destId="{0BF88898-2EBC-4BA2-AD7B-929448E6CACB}" srcOrd="0" destOrd="0" presId="urn:microsoft.com/office/officeart/2005/8/layout/vList5"/>
    <dgm:cxn modelId="{DAA12B60-8DB8-4994-9E0A-495F627531FB}" type="presParOf" srcId="{E391C399-9D03-4352-974D-2BE6D285312E}" destId="{C117354A-7087-430D-954A-AD768EC743FE}" srcOrd="1" destOrd="0" presId="urn:microsoft.com/office/officeart/2005/8/layout/vList5"/>
    <dgm:cxn modelId="{F5F2A723-DE16-46D7-9E39-66E248E8FDDC}" type="presParOf" srcId="{EE249007-5FDA-48F2-8570-46B855298B4B}" destId="{CDBFE90A-A2DD-4496-8638-0DD789AD0E03}" srcOrd="5" destOrd="0" presId="urn:microsoft.com/office/officeart/2005/8/layout/vList5"/>
    <dgm:cxn modelId="{459B7AD1-670E-4768-B638-A9688F7B3066}" type="presParOf" srcId="{EE249007-5FDA-48F2-8570-46B855298B4B}" destId="{594C530B-3D67-496B-8F75-2EBB6A9B0690}" srcOrd="6" destOrd="0" presId="urn:microsoft.com/office/officeart/2005/8/layout/vList5"/>
    <dgm:cxn modelId="{E0A2E581-20F4-48AC-B533-6ABFA22FFFFD}" type="presParOf" srcId="{594C530B-3D67-496B-8F75-2EBB6A9B0690}" destId="{C2ABA2AD-10D3-4A22-A97E-DF4E4CC5E200}" srcOrd="0" destOrd="0" presId="urn:microsoft.com/office/officeart/2005/8/layout/vList5"/>
    <dgm:cxn modelId="{89347CA5-4299-4AEB-832E-AF50BCE8475C}" type="presParOf" srcId="{594C530B-3D67-496B-8F75-2EBB6A9B0690}" destId="{1CE57D84-950D-4B08-A19A-F8C337F519E7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03C51F-A0AA-4FDD-BCE8-EB48429F9425}">
      <dsp:nvSpPr>
        <dsp:cNvPr id="0" name=""/>
        <dsp:cNvSpPr/>
      </dsp:nvSpPr>
      <dsp:spPr>
        <a:xfrm rot="5400000">
          <a:off x="5950068" y="-2426988"/>
          <a:ext cx="950904" cy="6047549"/>
        </a:xfrm>
        <a:prstGeom prst="round2Same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700" kern="1200" dirty="0">
              <a:sym typeface="Wingdings" panose="05000000000000000000" pitchFamily="2" charset="2"/>
            </a:rPr>
            <a:t>Metrics for Natural Language Generation (NLG)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700" kern="1200" dirty="0">
              <a:sym typeface="Wingdings" panose="05000000000000000000" pitchFamily="2" charset="2"/>
            </a:rPr>
            <a:t>Real-world use cases (MT, QA with RAG)</a:t>
          </a:r>
        </a:p>
      </dsp:txBody>
      <dsp:txXfrm rot="-5400000">
        <a:off x="3401746" y="167753"/>
        <a:ext cx="6001130" cy="858066"/>
      </dsp:txXfrm>
    </dsp:sp>
    <dsp:sp modelId="{D2D95DBE-29CF-4946-89A9-505D28192EAD}">
      <dsp:nvSpPr>
        <dsp:cNvPr id="0" name=""/>
        <dsp:cNvSpPr/>
      </dsp:nvSpPr>
      <dsp:spPr>
        <a:xfrm>
          <a:off x="0" y="2471"/>
          <a:ext cx="3401746" cy="1188630"/>
        </a:xfrm>
        <a:prstGeom prst="roundRect">
          <a:avLst/>
        </a:prstGeom>
        <a:solidFill>
          <a:schemeClr val="accent2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0" tIns="114300" rIns="228600" bIns="114300" numCol="1" spcCol="1270" anchor="ctr" anchorCtr="0">
          <a:noAutofit/>
        </a:bodyPr>
        <a:lstStyle/>
        <a:p>
          <a:pPr marL="0" lvl="0" indent="0" algn="ctr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GB" sz="6000" b="1" kern="1200" dirty="0"/>
            <a:t>Lab 1</a:t>
          </a:r>
          <a:endParaRPr lang="en-GB" sz="6000" kern="1200" dirty="0"/>
        </a:p>
      </dsp:txBody>
      <dsp:txXfrm>
        <a:off x="58024" y="60495"/>
        <a:ext cx="3285698" cy="1072582"/>
      </dsp:txXfrm>
    </dsp:sp>
    <dsp:sp modelId="{6A911036-7D2C-451D-B2DB-6F0BF0898267}">
      <dsp:nvSpPr>
        <dsp:cNvPr id="0" name=""/>
        <dsp:cNvSpPr/>
      </dsp:nvSpPr>
      <dsp:spPr>
        <a:xfrm rot="5400000">
          <a:off x="5950068" y="-1178925"/>
          <a:ext cx="950904" cy="6047549"/>
        </a:xfrm>
        <a:prstGeom prst="round2Same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700" kern="1200" dirty="0">
              <a:sym typeface="Wingdings" panose="05000000000000000000" pitchFamily="2" charset="2"/>
            </a:rPr>
            <a:t>Extract latent features from LLM embeddings by training a classification model</a:t>
          </a:r>
        </a:p>
      </dsp:txBody>
      <dsp:txXfrm rot="-5400000">
        <a:off x="3401746" y="1415816"/>
        <a:ext cx="6001130" cy="858066"/>
      </dsp:txXfrm>
    </dsp:sp>
    <dsp:sp modelId="{930D32B7-497C-49CE-9A7A-D9C21BD5A0CA}">
      <dsp:nvSpPr>
        <dsp:cNvPr id="0" name=""/>
        <dsp:cNvSpPr/>
      </dsp:nvSpPr>
      <dsp:spPr>
        <a:xfrm>
          <a:off x="0" y="1250533"/>
          <a:ext cx="3401746" cy="1188630"/>
        </a:xfrm>
        <a:prstGeom prst="roundRect">
          <a:avLst/>
        </a:prstGeom>
        <a:solidFill>
          <a:schemeClr val="accent2">
            <a:shade val="80000"/>
            <a:hueOff val="-151668"/>
            <a:satOff val="2837"/>
            <a:lumOff val="904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0" tIns="114300" rIns="228600" bIns="114300" numCol="1" spcCol="1270" anchor="ctr" anchorCtr="0">
          <a:noAutofit/>
        </a:bodyPr>
        <a:lstStyle/>
        <a:p>
          <a:pPr marL="0" lvl="0" indent="0" algn="ctr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000" b="1" kern="1200" dirty="0">
              <a:sym typeface="Wingdings" panose="05000000000000000000" pitchFamily="2" charset="2"/>
            </a:rPr>
            <a:t>Lab 2</a:t>
          </a:r>
          <a:endParaRPr lang="en-GB" sz="6000" b="0" kern="1200" dirty="0">
            <a:sym typeface="Wingdings" panose="05000000000000000000" pitchFamily="2" charset="2"/>
          </a:endParaRPr>
        </a:p>
      </dsp:txBody>
      <dsp:txXfrm>
        <a:off x="58024" y="1308557"/>
        <a:ext cx="3285698" cy="1072582"/>
      </dsp:txXfrm>
    </dsp:sp>
    <dsp:sp modelId="{C117354A-7087-430D-954A-AD768EC743FE}">
      <dsp:nvSpPr>
        <dsp:cNvPr id="0" name=""/>
        <dsp:cNvSpPr/>
      </dsp:nvSpPr>
      <dsp:spPr>
        <a:xfrm rot="5400000">
          <a:off x="5950068" y="69136"/>
          <a:ext cx="950904" cy="6047549"/>
        </a:xfrm>
        <a:prstGeom prst="round2Same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700" kern="1200" dirty="0">
              <a:sym typeface="Wingdings" panose="05000000000000000000" pitchFamily="2" charset="2"/>
            </a:rPr>
            <a:t>Generate video captions using:</a:t>
          </a:r>
        </a:p>
        <a:p>
          <a:pPr marL="342900" lvl="2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lphaLcParenR"/>
          </a:pPr>
          <a:r>
            <a:rPr lang="en-GB" sz="1700" kern="1200" dirty="0">
              <a:sym typeface="Wingdings" panose="05000000000000000000" pitchFamily="2" charset="2"/>
            </a:rPr>
            <a:t> CLIP-inspired models </a:t>
          </a:r>
          <a:r>
            <a:rPr lang="en-GB" sz="1700" b="0" kern="1200" dirty="0">
              <a:sym typeface="Wingdings" panose="05000000000000000000" pitchFamily="2" charset="2"/>
            </a:rPr>
            <a:t>(</a:t>
          </a:r>
          <a:r>
            <a:rPr lang="en-GB" sz="1700" b="1" kern="1200" dirty="0">
              <a:sym typeface="Wingdings" panose="05000000000000000000" pitchFamily="2" charset="2"/>
            </a:rPr>
            <a:t>Co</a:t>
          </a:r>
          <a:r>
            <a:rPr lang="en-GB" sz="1700" b="0" i="0" kern="1200" dirty="0"/>
            <a:t>ntrastive </a:t>
          </a:r>
          <a:r>
            <a:rPr lang="en-GB" sz="1700" b="1" i="0" u="none" kern="1200" dirty="0"/>
            <a:t>Ca</a:t>
          </a:r>
          <a:r>
            <a:rPr lang="en-GB" sz="1700" b="0" i="0" kern="1200" dirty="0"/>
            <a:t>ptioners)</a:t>
          </a:r>
          <a:endParaRPr lang="en-GB" sz="1700" kern="1200" dirty="0">
            <a:sym typeface="Wingdings" panose="05000000000000000000" pitchFamily="2" charset="2"/>
          </a:endParaRPr>
        </a:p>
        <a:p>
          <a:pPr marL="342900" lvl="2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lphaLcParenR"/>
          </a:pPr>
          <a:r>
            <a:rPr lang="en-GB" sz="1700" b="0" i="0" kern="1200" dirty="0"/>
            <a:t> Vision-Language Models (</a:t>
          </a:r>
          <a:r>
            <a:rPr lang="en-GB" sz="1700" b="1" kern="1200" dirty="0">
              <a:sym typeface="Wingdings" panose="05000000000000000000" pitchFamily="2" charset="2"/>
            </a:rPr>
            <a:t>VLMs</a:t>
          </a:r>
          <a:r>
            <a:rPr lang="en-GB" sz="1700" kern="1200" dirty="0">
              <a:sym typeface="Wingdings" panose="05000000000000000000" pitchFamily="2" charset="2"/>
            </a:rPr>
            <a:t>)</a:t>
          </a:r>
        </a:p>
      </dsp:txBody>
      <dsp:txXfrm rot="-5400000">
        <a:off x="3401746" y="2663878"/>
        <a:ext cx="6001130" cy="858066"/>
      </dsp:txXfrm>
    </dsp:sp>
    <dsp:sp modelId="{0BF88898-2EBC-4BA2-AD7B-929448E6CACB}">
      <dsp:nvSpPr>
        <dsp:cNvPr id="0" name=""/>
        <dsp:cNvSpPr/>
      </dsp:nvSpPr>
      <dsp:spPr>
        <a:xfrm>
          <a:off x="0" y="2498595"/>
          <a:ext cx="3401746" cy="1188630"/>
        </a:xfrm>
        <a:prstGeom prst="roundRect">
          <a:avLst/>
        </a:prstGeom>
        <a:solidFill>
          <a:schemeClr val="accent2">
            <a:shade val="80000"/>
            <a:hueOff val="-303336"/>
            <a:satOff val="5673"/>
            <a:lumOff val="180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0" tIns="114300" rIns="228600" bIns="114300" numCol="1" spcCol="1270" anchor="ctr" anchorCtr="0">
          <a:noAutofit/>
        </a:bodyPr>
        <a:lstStyle/>
        <a:p>
          <a:pPr marL="0" lvl="0" indent="0" algn="ctr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000" b="1" kern="1200" dirty="0">
              <a:sym typeface="Wingdings" panose="05000000000000000000" pitchFamily="2" charset="2"/>
            </a:rPr>
            <a:t>Lab 3</a:t>
          </a:r>
          <a:endParaRPr lang="en-GB" sz="6000" kern="1200" dirty="0">
            <a:sym typeface="Wingdings" panose="05000000000000000000" pitchFamily="2" charset="2"/>
          </a:endParaRPr>
        </a:p>
      </dsp:txBody>
      <dsp:txXfrm>
        <a:off x="58024" y="2556619"/>
        <a:ext cx="3285698" cy="1072582"/>
      </dsp:txXfrm>
    </dsp:sp>
    <dsp:sp modelId="{1CE57D84-950D-4B08-A19A-F8C337F519E7}">
      <dsp:nvSpPr>
        <dsp:cNvPr id="0" name=""/>
        <dsp:cNvSpPr/>
      </dsp:nvSpPr>
      <dsp:spPr>
        <a:xfrm rot="5400000">
          <a:off x="5950068" y="1317198"/>
          <a:ext cx="950904" cy="6047549"/>
        </a:xfrm>
        <a:prstGeom prst="round2Same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700" kern="1200" dirty="0">
              <a:sym typeface="Wingdings" panose="05000000000000000000" pitchFamily="2" charset="2"/>
            </a:rPr>
            <a:t>Agents using </a:t>
          </a:r>
          <a:r>
            <a:rPr lang="en-GB" sz="1700" i="1" kern="1200" dirty="0" err="1">
              <a:sym typeface="Wingdings" panose="05000000000000000000" pitchFamily="2" charset="2"/>
            </a:rPr>
            <a:t>LangChain</a:t>
          </a:r>
          <a:endParaRPr lang="en-GB" sz="1700" i="1" kern="1200" dirty="0">
            <a:sym typeface="Wingdings" panose="05000000000000000000" pitchFamily="2" charset="2"/>
          </a:endParaRPr>
        </a:p>
      </dsp:txBody>
      <dsp:txXfrm rot="-5400000">
        <a:off x="3401746" y="3911940"/>
        <a:ext cx="6001130" cy="858066"/>
      </dsp:txXfrm>
    </dsp:sp>
    <dsp:sp modelId="{C2ABA2AD-10D3-4A22-A97E-DF4E4CC5E200}">
      <dsp:nvSpPr>
        <dsp:cNvPr id="0" name=""/>
        <dsp:cNvSpPr/>
      </dsp:nvSpPr>
      <dsp:spPr>
        <a:xfrm>
          <a:off x="0" y="3746658"/>
          <a:ext cx="3401746" cy="1188630"/>
        </a:xfrm>
        <a:prstGeom prst="roundRect">
          <a:avLst/>
        </a:prstGeom>
        <a:solidFill>
          <a:schemeClr val="accent2">
            <a:shade val="80000"/>
            <a:hueOff val="-455004"/>
            <a:satOff val="8510"/>
            <a:lumOff val="2712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0" tIns="114300" rIns="228600" bIns="114300" numCol="1" spcCol="1270" anchor="ctr" anchorCtr="0">
          <a:noAutofit/>
        </a:bodyPr>
        <a:lstStyle/>
        <a:p>
          <a:pPr marL="0" lvl="0" indent="0" algn="ctr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000" b="1" kern="1200" dirty="0">
              <a:sym typeface="Wingdings" panose="05000000000000000000" pitchFamily="2" charset="2"/>
            </a:rPr>
            <a:t>Lab 4</a:t>
          </a:r>
          <a:endParaRPr lang="en-GB" sz="6000" kern="1200" dirty="0">
            <a:sym typeface="Wingdings" panose="05000000000000000000" pitchFamily="2" charset="2"/>
          </a:endParaRPr>
        </a:p>
      </dsp:txBody>
      <dsp:txXfrm>
        <a:off x="58024" y="3804682"/>
        <a:ext cx="3285698" cy="107258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AF85B3-2EDB-47EF-A73A-5900FF2E6037}" type="datetimeFigureOut">
              <a:rPr lang="en-GB" smtClean="0"/>
              <a:t>12/11/2025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FCFD18-25B0-4288-AD06-F9E4B0C088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93293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FCFD18-25B0-4288-AD06-F9E4B0C088B8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47975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D4DEE-A99D-AC4E-1C0F-A4CF634AFA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3AE999-F2F5-7FB4-856D-EDCD25B897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7A751E-A4F7-AC8E-7749-ECAB969E7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274B9-59B1-4D1D-9A19-42F614610704}" type="datetimeFigureOut">
              <a:rPr lang="en-GB" smtClean="0"/>
              <a:t>12/11/2025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98C3B-63E1-0BF7-C4E9-E9F3E26A1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A51E26-A049-DB35-D732-83BABE151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A2BCC-AA0C-404E-B992-B98B179DC5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1876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063AD-41DE-3944-9203-A691335AE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CFF57E-C74B-D737-81D9-65E9A6A308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5CB64-88C8-53EA-B49B-341158502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274B9-59B1-4D1D-9A19-42F614610704}" type="datetimeFigureOut">
              <a:rPr lang="en-GB" smtClean="0"/>
              <a:t>12/11/2025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703E22-415A-ED68-96E5-A28B9C15E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277A2D-A165-EE94-67F2-748EFB5F5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A2BCC-AA0C-404E-B992-B98B179DC5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75005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5FBA8-4ABF-0373-A669-BFE9F0CC7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E8CE0C-26B3-1DFF-7B66-A55C06AA61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322E3A-5A22-9338-A3B7-1DC0135DB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274B9-59B1-4D1D-9A19-42F614610704}" type="datetimeFigureOut">
              <a:rPr lang="en-GB" smtClean="0"/>
              <a:t>12/11/2025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F3A787-F23C-29B0-546F-E19BA4E03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120881-062D-6EDB-1153-9D5DEF7F8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A2BCC-AA0C-404E-B992-B98B179DC5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3086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B560A-85AB-788A-A365-633D712D1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1F04C7-BC8B-9D61-F067-E54A275E01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AE7798-A983-D00F-9488-5594BFA396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B18AB6-DF2E-8205-5A7C-BF861A374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274B9-59B1-4D1D-9A19-42F614610704}" type="datetimeFigureOut">
              <a:rPr lang="en-GB" smtClean="0"/>
              <a:t>12/11/2025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B8893C-16C6-0D6B-819C-0727630F7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8B771F-C15B-7599-72EC-11F7566B0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A2BCC-AA0C-404E-B992-B98B179DC5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26959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B71D4-E9F4-D7A9-5115-8E1BD8FC0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3BA2E6-578B-6337-6BE1-FE0CEC277B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42DEF4-53D0-E54E-CC2B-5532B07A5C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0F53A7-877D-8478-22F3-743925C1F2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1070E7-3638-56CA-BB38-FF932ACE03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8106A9-F655-3F5D-B57D-54CACE613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274B9-59B1-4D1D-9A19-42F614610704}" type="datetimeFigureOut">
              <a:rPr lang="en-GB" smtClean="0"/>
              <a:t>12/11/2025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5FC26B-FCA1-A361-6865-4689DDA6C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01980F-B254-E57E-7B4A-ACCB3EC01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A2BCC-AA0C-404E-B992-B98B179DC5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3554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2DB90-EC59-116A-7515-30C7D1D19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99C9EF-2944-29CB-0B08-C2D1105C2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274B9-59B1-4D1D-9A19-42F614610704}" type="datetimeFigureOut">
              <a:rPr lang="en-GB" smtClean="0"/>
              <a:t>12/11/2025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801692-37C6-13DF-464C-EFA5B1F44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9A7490-7C57-874A-209B-72F74E897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A2BCC-AA0C-404E-B992-B98B179DC5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37185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EF28BD-279B-3AEC-2BC3-8C12D1C5F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274B9-59B1-4D1D-9A19-42F614610704}" type="datetimeFigureOut">
              <a:rPr lang="en-GB" smtClean="0"/>
              <a:t>12/11/2025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B0A304-4EA7-F59C-B629-B7FEFDF9A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B17B87-D1B2-43CE-3405-E6D7688D7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A2BCC-AA0C-404E-B992-B98B179DC5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6700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787FE-5329-6AD3-06F8-C0BF3F145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3A36A6-ED02-069B-BE31-3F132BFD88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982CCA-445C-C670-1FFF-B80450032B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7569FC-5848-FCBA-751D-9BDB79B5E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274B9-59B1-4D1D-9A19-42F614610704}" type="datetimeFigureOut">
              <a:rPr lang="en-GB" smtClean="0"/>
              <a:t>12/11/2025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8811E1-D78E-099E-3FC5-418D9F17D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8908E4-9225-3CEC-75B5-D2DB018D0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A2BCC-AA0C-404E-B992-B98B179DC5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67795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9B0E0-9860-373E-2287-2C19EF729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04F8B0D-95E7-7007-C05F-4001C12BCD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5D9EC5-95AB-F748-184A-6EF9BE0FBD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379A05-7971-400B-06F0-74C909D90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274B9-59B1-4D1D-9A19-42F614610704}" type="datetimeFigureOut">
              <a:rPr lang="en-GB" smtClean="0"/>
              <a:t>12/11/2025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6CE4F9-7ADC-9613-3B00-5AF045B92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06147E-F155-7290-7258-2A25CD85D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A2BCC-AA0C-404E-B992-B98B179DC5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0817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39FC0-FCE9-F136-DF0B-FB80630ED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DAA132-AB84-0A9D-D998-18DE6DD332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6E94D8-A1D1-0C72-0047-5790DBC2E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274B9-59B1-4D1D-9A19-42F614610704}" type="datetimeFigureOut">
              <a:rPr lang="en-GB" smtClean="0"/>
              <a:t>12/11/2025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10F215-25B3-162E-44D2-FF45D94A3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0A3C2C-D2C9-1FF0-89AE-2C6A48156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A2BCC-AA0C-404E-B992-B98B179DC5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1427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1A8D43-A7EB-9ECB-226E-1E3C123AD0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786597-F935-4BF0-262B-388F767F17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B96821-930B-8331-C00A-77E55D778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274B9-59B1-4D1D-9A19-42F614610704}" type="datetimeFigureOut">
              <a:rPr lang="en-GB" smtClean="0"/>
              <a:t>12/11/2025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C0A00C-D797-52CD-1E04-3C6D04EE3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AC653B-4288-0987-75ED-A154956A4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A2BCC-AA0C-404E-B992-B98B179DC5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4290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633DD6-BAE5-B453-1E8B-350A32C50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FDCEA4-BBA2-3898-2CE0-9758F5B6CA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2F8085-1B32-6AA7-E06F-1953FA39CF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4274B9-59B1-4D1D-9A19-42F614610704}" type="datetimeFigureOut">
              <a:rPr lang="en-GB" smtClean="0"/>
              <a:t>12/11/2025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59833D-6898-1D44-F7B4-C5E68897B0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123DF9-FBEF-62FD-597F-F6CF4DBFDC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5A2BCC-AA0C-404E-B992-B98B179DC5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4533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" TargetMode="External"/><Relationship Id="rId2" Type="http://schemas.openxmlformats.org/officeDocument/2006/relationships/hyperlink" Target="mailto:paolo.rota@unitn.it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encedirect.com/science/article/pii/S1574013724000169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langchain.com/oss/python/langchain/agents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huggingface.co/learn/agents-course/en/unit1/tools" TargetMode="Externa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github/saturnMars/FM_2025/blob/main/Lab4_agents.ipynb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www.menti.com/alna8gf2nrfw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65DC169-9BD6-D33A-3D16-A87782D838E9}"/>
              </a:ext>
            </a:extLst>
          </p:cNvPr>
          <p:cNvSpPr/>
          <p:nvPr/>
        </p:nvSpPr>
        <p:spPr>
          <a:xfrm>
            <a:off x="-1" y="-758283"/>
            <a:ext cx="12192001" cy="4848550"/>
          </a:xfrm>
          <a:prstGeom prst="roundRect">
            <a:avLst>
              <a:gd name="adj" fmla="val 820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894533-44E2-8593-216C-9165487A7D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437957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Foundation Models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11B474-C06F-CFA5-22A3-621B365C3A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6413" y="4344514"/>
            <a:ext cx="4772722" cy="2172258"/>
          </a:xfrm>
        </p:spPr>
        <p:txBody>
          <a:bodyPr>
            <a:normAutofit/>
          </a:bodyPr>
          <a:lstStyle/>
          <a:p>
            <a:endParaRPr lang="it-IT" dirty="0"/>
          </a:p>
          <a:p>
            <a:r>
              <a:rPr lang="it-IT" dirty="0"/>
              <a:t>Paolo Rota</a:t>
            </a:r>
          </a:p>
          <a:p>
            <a:r>
              <a:rPr lang="it-IT" dirty="0">
                <a:hlinkClick r:id="rId2"/>
              </a:rPr>
              <a:t>paolo.rota@unitn.it</a:t>
            </a:r>
            <a:endParaRPr lang="it-IT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4E83BE58-AE75-258C-E81C-8A3E3ED083B6}"/>
              </a:ext>
            </a:extLst>
          </p:cNvPr>
          <p:cNvSpPr txBox="1">
            <a:spLocks/>
          </p:cNvSpPr>
          <p:nvPr/>
        </p:nvSpPr>
        <p:spPr>
          <a:xfrm>
            <a:off x="7168747" y="4344514"/>
            <a:ext cx="4772722" cy="21722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 dirty="0"/>
          </a:p>
          <a:p>
            <a:r>
              <a:rPr lang="it-IT" dirty="0"/>
              <a:t>Marco Bronzini</a:t>
            </a:r>
          </a:p>
          <a:p>
            <a:r>
              <a:rPr lang="it-IT" dirty="0">
                <a:hlinkClick r:id="rId3"/>
              </a:rPr>
              <a:t>marco.bronzini-1@unitn.it</a:t>
            </a:r>
            <a:endParaRPr lang="en-GB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0760C6F-54F4-03DD-323A-9BFDA22916D0}"/>
              </a:ext>
            </a:extLst>
          </p:cNvPr>
          <p:cNvSpPr/>
          <p:nvPr/>
        </p:nvSpPr>
        <p:spPr>
          <a:xfrm>
            <a:off x="3789555" y="6199705"/>
            <a:ext cx="5058195" cy="99989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400" dirty="0"/>
              <a:t>University of Trento</a:t>
            </a:r>
          </a:p>
          <a:p>
            <a:pPr algn="ctr"/>
            <a:r>
              <a:rPr lang="en-GB" sz="1400" dirty="0"/>
              <a:t>November 12, 2025</a:t>
            </a:r>
          </a:p>
        </p:txBody>
      </p:sp>
    </p:spTree>
    <p:extLst>
      <p:ext uri="{BB962C8B-B14F-4D97-AF65-F5344CB8AC3E}">
        <p14:creationId xmlns:p14="http://schemas.microsoft.com/office/powerpoint/2010/main" val="4179460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81566-CFDE-F503-8D92-F6AE5A6FA1DB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oundRect">
            <a:avLst/>
          </a:prstGeom>
          <a:solidFill>
            <a:schemeClr val="accent1"/>
          </a:solidFill>
        </p:spPr>
        <p:txBody>
          <a:bodyPr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Overview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021DC5F1-8842-C576-C534-B8D7E394DDD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55701166"/>
              </p:ext>
            </p:extLst>
          </p:nvPr>
        </p:nvGraphicFramePr>
        <p:xfrm>
          <a:off x="1612714" y="1806498"/>
          <a:ext cx="9449296" cy="49377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3BE6F29-1C11-E70E-A802-3A4964F6C94D}"/>
              </a:ext>
            </a:extLst>
          </p:cNvPr>
          <p:cNvSpPr txBox="1"/>
          <p:nvPr/>
        </p:nvSpPr>
        <p:spPr>
          <a:xfrm>
            <a:off x="176436" y="2197233"/>
            <a:ext cx="13872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/>
            <a:r>
              <a:rPr lang="en-GB" i="1" dirty="0"/>
              <a:t>Friday</a:t>
            </a:r>
            <a:r>
              <a:rPr lang="en-GB" dirty="0"/>
              <a:t>, October 10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B7F99F-E707-E4BD-0D6E-C1F3C54FC919}"/>
              </a:ext>
            </a:extLst>
          </p:cNvPr>
          <p:cNvSpPr txBox="1"/>
          <p:nvPr/>
        </p:nvSpPr>
        <p:spPr>
          <a:xfrm>
            <a:off x="102591" y="3473676"/>
            <a:ext cx="14610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/>
            <a:r>
              <a:rPr lang="en-GB" i="1" dirty="0"/>
              <a:t>Wednesday</a:t>
            </a:r>
            <a:r>
              <a:rPr lang="en-GB" dirty="0"/>
              <a:t>,</a:t>
            </a:r>
          </a:p>
          <a:p>
            <a:pPr lvl="0" algn="r"/>
            <a:r>
              <a:rPr lang="en-GB" dirty="0"/>
              <a:t>October 15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E3254D-6AF7-8CF9-A749-CA48A6BB0AF4}"/>
              </a:ext>
            </a:extLst>
          </p:cNvPr>
          <p:cNvSpPr txBox="1"/>
          <p:nvPr/>
        </p:nvSpPr>
        <p:spPr>
          <a:xfrm>
            <a:off x="21502" y="4578835"/>
            <a:ext cx="14610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/>
            <a:r>
              <a:rPr lang="en-GB" i="1" dirty="0"/>
              <a:t>Friday, November 7</a:t>
            </a:r>
            <a:endParaRPr lang="en-GB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FD73BBD-F49D-83FF-FD6C-7354A640F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14F82-BE8C-4CA8-BA76-52B2F053D2D8}" type="slidenum">
              <a:rPr lang="en-GB" smtClean="0"/>
              <a:t>2</a:t>
            </a:fld>
            <a:endParaRPr lang="en-GB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886C8F0-8B82-FD99-0767-408D75A5665B}"/>
              </a:ext>
            </a:extLst>
          </p:cNvPr>
          <p:cNvSpPr/>
          <p:nvPr/>
        </p:nvSpPr>
        <p:spPr>
          <a:xfrm>
            <a:off x="176436" y="1806498"/>
            <a:ext cx="11229031" cy="3770337"/>
          </a:xfrm>
          <a:prstGeom prst="round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22658B-BAAE-D3AA-9A80-B3D47FC134F8}"/>
              </a:ext>
            </a:extLst>
          </p:cNvPr>
          <p:cNvSpPr txBox="1"/>
          <p:nvPr/>
        </p:nvSpPr>
        <p:spPr>
          <a:xfrm>
            <a:off x="21502" y="5788260"/>
            <a:ext cx="152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/>
            <a:r>
              <a:rPr lang="en-GB" i="1" dirty="0"/>
              <a:t>Wednesday, November 12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053148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2A1F3-BEB3-52B2-1FA4-71BCBEAFA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023FA51-EDD9-4C1B-E13E-4809704D2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14F82-BE8C-4CA8-BA76-52B2F053D2D8}" type="slidenum">
              <a:rPr lang="en-GB" smtClean="0"/>
              <a:t>3</a:t>
            </a:fld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ED21F9-DB10-1D5F-788A-3B1344E43660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oundRect">
            <a:avLst/>
          </a:prstGeom>
          <a:solidFill>
            <a:schemeClr val="accent1"/>
          </a:solidFill>
        </p:spPr>
        <p:txBody>
          <a:bodyPr/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Agents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C8846C-7A2A-5EE7-BB65-C563B1DBE0A2}"/>
              </a:ext>
            </a:extLst>
          </p:cNvPr>
          <p:cNvSpPr txBox="1"/>
          <p:nvPr/>
        </p:nvSpPr>
        <p:spPr>
          <a:xfrm>
            <a:off x="1016000" y="2086042"/>
            <a:ext cx="10160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An agent is a language model with </a:t>
            </a:r>
            <a:r>
              <a:rPr lang="en-GB" i="1" dirty="0"/>
              <a:t>superpowers</a:t>
            </a:r>
            <a:r>
              <a:rPr lang="en-GB" dirty="0"/>
              <a:t>💪🏻</a:t>
            </a:r>
          </a:p>
          <a:p>
            <a:r>
              <a:rPr lang="en-GB" dirty="0"/>
              <a:t>It can be defined as a system that: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Maps </a:t>
            </a:r>
            <a:r>
              <a:rPr lang="en-GB" b="1" dirty="0"/>
              <a:t>inputs from the environment </a:t>
            </a:r>
            <a:r>
              <a:rPr lang="en-GB" dirty="0"/>
              <a:t>to </a:t>
            </a:r>
            <a:r>
              <a:rPr lang="en-GB" b="1" dirty="0"/>
              <a:t>actions</a:t>
            </a:r>
            <a:r>
              <a:rPr lang="en-GB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using some internal </a:t>
            </a:r>
            <a:r>
              <a:rPr lang="en-GB" b="1" dirty="0"/>
              <a:t>policy</a:t>
            </a:r>
            <a:r>
              <a:rPr lang="en-GB" dirty="0"/>
              <a:t> or </a:t>
            </a:r>
            <a:r>
              <a:rPr lang="en-GB" b="1" dirty="0"/>
              <a:t>decision-making mechanism</a:t>
            </a:r>
            <a:r>
              <a:rPr lang="en-GB" dirty="0"/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6911948-CAC3-D932-434B-13E75D0F3DEE}"/>
              </a:ext>
            </a:extLst>
          </p:cNvPr>
          <p:cNvSpPr txBox="1"/>
          <p:nvPr/>
        </p:nvSpPr>
        <p:spPr>
          <a:xfrm>
            <a:off x="1784350" y="4420389"/>
            <a:ext cx="9093200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b="1" dirty="0"/>
              <a:t>Autonomy: </a:t>
            </a:r>
            <a:r>
              <a:rPr lang="en-GB" dirty="0"/>
              <a:t>It </a:t>
            </a:r>
            <a:r>
              <a:rPr lang="en-GB" u="sng" dirty="0"/>
              <a:t>controls its own actions</a:t>
            </a:r>
            <a:r>
              <a:rPr lang="en-GB" dirty="0"/>
              <a:t> without direct human intervention;</a:t>
            </a:r>
          </a:p>
          <a:p>
            <a:pPr marL="342900" indent="-342900">
              <a:buFont typeface="+mj-lt"/>
              <a:buAutoNum type="arabicPeriod"/>
            </a:pPr>
            <a:r>
              <a:rPr lang="en-GB" b="1" dirty="0"/>
              <a:t>Perception: </a:t>
            </a:r>
            <a:r>
              <a:rPr lang="en-GB" dirty="0"/>
              <a:t>It </a:t>
            </a:r>
            <a:r>
              <a:rPr lang="en-GB" u="sng" dirty="0"/>
              <a:t>senses its environment </a:t>
            </a:r>
            <a:r>
              <a:rPr lang="en-GB" dirty="0"/>
              <a:t>through data inputs (e.g., history) or sensors.</a:t>
            </a:r>
          </a:p>
          <a:p>
            <a:pPr marL="342900" indent="-342900">
              <a:buFont typeface="+mj-lt"/>
              <a:buAutoNum type="arabicPeriod"/>
            </a:pPr>
            <a:r>
              <a:rPr lang="en-GB" b="1" dirty="0"/>
              <a:t>Action: </a:t>
            </a:r>
            <a:r>
              <a:rPr lang="en-GB" dirty="0"/>
              <a:t>It </a:t>
            </a:r>
            <a:r>
              <a:rPr lang="en-GB" u="sng" dirty="0"/>
              <a:t>influences the environment </a:t>
            </a:r>
            <a:r>
              <a:rPr lang="en-GB" dirty="0"/>
              <a:t>through output mechanisms;</a:t>
            </a:r>
          </a:p>
          <a:p>
            <a:pPr marL="342900" indent="-342900">
              <a:buFont typeface="+mj-lt"/>
              <a:buAutoNum type="arabicPeriod"/>
            </a:pPr>
            <a:r>
              <a:rPr lang="en-GB" b="1" dirty="0"/>
              <a:t>Goal-oriented behaviours: </a:t>
            </a:r>
            <a:r>
              <a:rPr lang="en-GB" dirty="0"/>
              <a:t>It </a:t>
            </a:r>
            <a:r>
              <a:rPr lang="en-GB" u="sng" dirty="0"/>
              <a:t>acts to achieve defined objectives</a:t>
            </a:r>
            <a:r>
              <a:rPr lang="en-GB" dirty="0"/>
              <a:t>;</a:t>
            </a:r>
          </a:p>
          <a:p>
            <a:pPr marL="342900" indent="-342900">
              <a:buFont typeface="+mj-lt"/>
              <a:buAutoNum type="arabicPeriod"/>
            </a:pPr>
            <a:r>
              <a:rPr lang="en-GB" b="1" dirty="0"/>
              <a:t>Adaptivity: </a:t>
            </a:r>
            <a:r>
              <a:rPr lang="en-GB" dirty="0"/>
              <a:t>Many can learn from experience or </a:t>
            </a:r>
            <a:r>
              <a:rPr lang="en-GB" u="sng" dirty="0"/>
              <a:t>adapt to changes in their environment</a:t>
            </a:r>
            <a:r>
              <a:rPr lang="en-GB" dirty="0"/>
              <a:t>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E69D96C-57EB-DC43-6409-D60A0431D349}"/>
              </a:ext>
            </a:extLst>
          </p:cNvPr>
          <p:cNvSpPr txBox="1"/>
          <p:nvPr/>
        </p:nvSpPr>
        <p:spPr>
          <a:xfrm>
            <a:off x="3535680" y="395872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GB" sz="2400" b="1" dirty="0"/>
              <a:t>Key Characteristics</a:t>
            </a:r>
          </a:p>
        </p:txBody>
      </p:sp>
    </p:spTree>
    <p:extLst>
      <p:ext uri="{BB962C8B-B14F-4D97-AF65-F5344CB8AC3E}">
        <p14:creationId xmlns:p14="http://schemas.microsoft.com/office/powerpoint/2010/main" val="15273626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BCA08-E85E-E47D-9640-C32B9A3C7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0ED4DEE-B35C-C7A2-2C75-3A34DA7BA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14F82-BE8C-4CA8-BA76-52B2F053D2D8}" type="slidenum">
              <a:rPr lang="en-GB" smtClean="0"/>
              <a:t>4</a:t>
            </a:fld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F50279-6DCF-577A-DB93-707D04C9779A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oundRect">
            <a:avLst/>
          </a:prstGeom>
          <a:solidFill>
            <a:schemeClr val="accent1"/>
          </a:solidFill>
        </p:spPr>
        <p:txBody>
          <a:bodyPr>
            <a:normAutofit/>
          </a:bodyPr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Conversational Agents </a:t>
            </a:r>
            <a:r>
              <a:rPr lang="en-GB" sz="3800" dirty="0">
                <a:solidFill>
                  <a:schemeClr val="bg1"/>
                </a:solidFill>
              </a:rPr>
              <a:t>(i.e., Chat Bot)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AC8A44-8476-62BB-B5BA-4210436F8E62}"/>
              </a:ext>
            </a:extLst>
          </p:cNvPr>
          <p:cNvSpPr txBox="1"/>
          <p:nvPr/>
        </p:nvSpPr>
        <p:spPr>
          <a:xfrm>
            <a:off x="1003300" y="1992193"/>
            <a:ext cx="101092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A </a:t>
            </a:r>
            <a:r>
              <a:rPr lang="en-GB" b="1" dirty="0"/>
              <a:t>conversational agent</a:t>
            </a:r>
            <a:r>
              <a:rPr lang="en-GB" dirty="0"/>
              <a:t> is an agent designed to </a:t>
            </a:r>
            <a:r>
              <a:rPr lang="en-GB" b="1" dirty="0"/>
              <a:t>interact with humans </a:t>
            </a:r>
            <a:r>
              <a:rPr lang="en-GB" dirty="0"/>
              <a:t>through </a:t>
            </a:r>
            <a:r>
              <a:rPr lang="en-GB" i="1" dirty="0"/>
              <a:t>natural language</a:t>
            </a:r>
            <a:r>
              <a:rPr lang="en-GB" dirty="0"/>
              <a:t>:</a:t>
            </a:r>
          </a:p>
          <a:p>
            <a:pPr marL="342900" indent="-342900">
              <a:buFont typeface="+mj-lt"/>
              <a:buAutoNum type="alphaLcParenR"/>
            </a:pPr>
            <a:r>
              <a:rPr lang="en-GB" dirty="0"/>
              <a:t>Simulate conversation</a:t>
            </a:r>
          </a:p>
          <a:p>
            <a:pPr marL="342900" indent="-342900">
              <a:buFont typeface="+mj-lt"/>
              <a:buAutoNum type="alphaLcParenR"/>
            </a:pPr>
            <a:r>
              <a:rPr lang="en-GB" dirty="0"/>
              <a:t>Understand user’s requests</a:t>
            </a:r>
          </a:p>
          <a:p>
            <a:pPr marL="342900" indent="-342900">
              <a:buFont typeface="+mj-lt"/>
              <a:buAutoNum type="alphaLcParenR"/>
            </a:pPr>
            <a:r>
              <a:rPr lang="en-GB" dirty="0"/>
              <a:t>Generate appropriate responses to achieve specific goals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C9B331-3E32-2D1D-F977-D47B8BA3FC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3237" y="3665479"/>
            <a:ext cx="5314950" cy="247830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D486843-ADEC-AC7E-312D-EF27AE978396}"/>
              </a:ext>
            </a:extLst>
          </p:cNvPr>
          <p:cNvSpPr txBox="1"/>
          <p:nvPr/>
        </p:nvSpPr>
        <p:spPr>
          <a:xfrm>
            <a:off x="3695700" y="6629142"/>
            <a:ext cx="5443538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600" dirty="0">
                <a:hlinkClick r:id="rId3"/>
              </a:rPr>
              <a:t>A contemporary review on chatbots, AI-powered virtual conversational agents, ChatGPT: Applications, open challenges and future research directions</a:t>
            </a:r>
            <a:endParaRPr lang="en-GB" sz="600" dirty="0"/>
          </a:p>
        </p:txBody>
      </p:sp>
    </p:spTree>
    <p:extLst>
      <p:ext uri="{BB962C8B-B14F-4D97-AF65-F5344CB8AC3E}">
        <p14:creationId xmlns:p14="http://schemas.microsoft.com/office/powerpoint/2010/main" val="21649542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DD881-E17C-06C8-802A-FC57A595C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4EE1782-2684-3641-1C3E-7976EBD76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14F82-BE8C-4CA8-BA76-52B2F053D2D8}" type="slidenum">
              <a:rPr lang="en-GB" smtClean="0"/>
              <a:t>5</a:t>
            </a:fld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4F64A3-15C2-314D-E514-C278ABFCC106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oundRect">
            <a:avLst/>
          </a:prstGeom>
          <a:solidFill>
            <a:schemeClr val="accent1"/>
          </a:solidFill>
        </p:spPr>
        <p:txBody>
          <a:bodyPr/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Tools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F28721-0726-C4EF-7AD6-30FA77AE8E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554" y="2392007"/>
            <a:ext cx="3417399" cy="30638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C62350A-8794-B4F3-99C1-33A9B3D9916F}"/>
              </a:ext>
            </a:extLst>
          </p:cNvPr>
          <p:cNvSpPr txBox="1"/>
          <p:nvPr/>
        </p:nvSpPr>
        <p:spPr>
          <a:xfrm>
            <a:off x="797030" y="5554957"/>
            <a:ext cx="341739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100" dirty="0">
                <a:hlinkClick r:id="rId3"/>
              </a:rPr>
              <a:t>docs.langchain.com/</a:t>
            </a:r>
            <a:r>
              <a:rPr lang="en-GB" sz="1100" dirty="0" err="1">
                <a:hlinkClick r:id="rId3"/>
              </a:rPr>
              <a:t>oss</a:t>
            </a:r>
            <a:r>
              <a:rPr lang="en-GB" sz="1100" dirty="0">
                <a:hlinkClick r:id="rId3"/>
              </a:rPr>
              <a:t>/python/</a:t>
            </a:r>
            <a:r>
              <a:rPr lang="en-GB" sz="1100" dirty="0" err="1">
                <a:hlinkClick r:id="rId3"/>
              </a:rPr>
              <a:t>langchain</a:t>
            </a:r>
            <a:r>
              <a:rPr lang="en-GB" sz="1100" dirty="0">
                <a:hlinkClick r:id="rId3"/>
              </a:rPr>
              <a:t>/agents</a:t>
            </a:r>
            <a:endParaRPr lang="en-GB" sz="11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E5B691-5C6C-B63F-0329-A60D5E513458}"/>
              </a:ext>
            </a:extLst>
          </p:cNvPr>
          <p:cNvSpPr txBox="1"/>
          <p:nvPr/>
        </p:nvSpPr>
        <p:spPr>
          <a:xfrm>
            <a:off x="3435350" y="2162127"/>
            <a:ext cx="8178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GB" b="1" dirty="0"/>
              <a:t>Tools</a:t>
            </a:r>
            <a:r>
              <a:rPr lang="en-GB" dirty="0"/>
              <a:t> refer to </a:t>
            </a:r>
            <a:r>
              <a:rPr lang="en-GB" b="1" dirty="0"/>
              <a:t>external capabilities or resources </a:t>
            </a:r>
            <a:r>
              <a:rPr lang="en-GB" dirty="0"/>
              <a:t>that: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an agent can invoke to perform tasks beyond its internal reasoning ability.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GB" dirty="0"/>
              <a:t>It is typically a </a:t>
            </a:r>
            <a:r>
              <a:rPr lang="en-GB" b="1" dirty="0"/>
              <a:t>specialized function </a:t>
            </a:r>
            <a:r>
              <a:rPr lang="en-GB" dirty="0"/>
              <a:t>or external system that: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an agent uses whenever it decided the tool’s capabilities are needed to reach its goal.</a:t>
            </a:r>
          </a:p>
        </p:txBody>
      </p:sp>
      <p:pic>
        <p:nvPicPr>
          <p:cNvPr id="1026" name="Picture 2" descr="Weather">
            <a:extLst>
              <a:ext uri="{FF2B5EF4-FFF2-40B4-BE49-F238E27FC236}">
                <a16:creationId xmlns:a16="http://schemas.microsoft.com/office/drawing/2014/main" id="{2F2985F3-801D-1988-2035-65E69004E5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1303" y="3903882"/>
            <a:ext cx="4051300" cy="22788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FBC865C-D795-3437-2BB1-2CFAEA1866B6}"/>
              </a:ext>
            </a:extLst>
          </p:cNvPr>
          <p:cNvSpPr txBox="1"/>
          <p:nvPr/>
        </p:nvSpPr>
        <p:spPr>
          <a:xfrm>
            <a:off x="7771303" y="6195438"/>
            <a:ext cx="313055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100" dirty="0">
                <a:hlinkClick r:id="rId5"/>
              </a:rPr>
              <a:t>huggingface.co/learn/agents-course/</a:t>
            </a:r>
            <a:r>
              <a:rPr lang="en-GB" sz="1100" dirty="0" err="1">
                <a:hlinkClick r:id="rId5"/>
              </a:rPr>
              <a:t>en</a:t>
            </a:r>
            <a:r>
              <a:rPr lang="en-GB" sz="1100" dirty="0">
                <a:hlinkClick r:id="rId5"/>
              </a:rPr>
              <a:t>/unit1/to</a:t>
            </a:r>
            <a:endParaRPr lang="en-GB" sz="1100" dirty="0"/>
          </a:p>
        </p:txBody>
      </p:sp>
    </p:spTree>
    <p:extLst>
      <p:ext uri="{BB962C8B-B14F-4D97-AF65-F5344CB8AC3E}">
        <p14:creationId xmlns:p14="http://schemas.microsoft.com/office/powerpoint/2010/main" val="32423537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AB6EAC-466D-4194-945A-D9594484C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E27C372-49A8-4D8E-DCF7-FEA7CDEB9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14F82-BE8C-4CA8-BA76-52B2F053D2D8}" type="slidenum">
              <a:rPr lang="en-GB" smtClean="0"/>
              <a:t>6</a:t>
            </a:fld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445AED-5857-4741-A842-4B48EE4EB8DF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oundRect">
            <a:avLst/>
          </a:prstGeom>
          <a:solidFill>
            <a:schemeClr val="accent1"/>
          </a:solidFill>
        </p:spPr>
        <p:txBody>
          <a:bodyPr>
            <a:normAutofit/>
          </a:bodyPr>
          <a:lstStyle/>
          <a:p>
            <a:pPr algn="ctr"/>
            <a:r>
              <a:rPr lang="en-GB" dirty="0" err="1">
                <a:solidFill>
                  <a:schemeClr val="bg1"/>
                </a:solidFill>
              </a:rPr>
              <a:t>LangChain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b="1" dirty="0"/>
              <a:t>🦜️🔗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688E92-BDF1-4F37-789C-51E4DEB1B555}"/>
              </a:ext>
            </a:extLst>
          </p:cNvPr>
          <p:cNvSpPr txBox="1"/>
          <p:nvPr/>
        </p:nvSpPr>
        <p:spPr>
          <a:xfrm>
            <a:off x="1174750" y="2108200"/>
            <a:ext cx="10033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It’s an open-source library enabling </a:t>
            </a:r>
            <a:r>
              <a:rPr lang="en-GB" i="1" dirty="0"/>
              <a:t>building agents and applications powered by LLMs</a:t>
            </a:r>
            <a:r>
              <a:rPr lang="en-GB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It provides a </a:t>
            </a:r>
            <a:r>
              <a:rPr lang="en-GB" u="sng" dirty="0"/>
              <a:t>pre-built agent architecture </a:t>
            </a:r>
            <a:r>
              <a:rPr lang="en-GB" dirty="0"/>
              <a:t>and model integrations to help you get started quickly and seamlessly incorporate LLMs into your agents and applications</a:t>
            </a:r>
          </a:p>
        </p:txBody>
      </p:sp>
      <p:pic>
        <p:nvPicPr>
          <p:cNvPr id="6" name="Picture 5" descr="A diagram of a model&#10;&#10;AI-generated content may be incorrect.">
            <a:extLst>
              <a:ext uri="{FF2B5EF4-FFF2-40B4-BE49-F238E27FC236}">
                <a16:creationId xmlns:a16="http://schemas.microsoft.com/office/drawing/2014/main" id="{EDA0013B-D1D2-853A-3A40-BB2B4871D4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3652" y="3268500"/>
            <a:ext cx="3260081" cy="32004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010A799-0D5C-A067-1568-7589408116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0105" y="3230562"/>
            <a:ext cx="4021145" cy="3408958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49BE713-320A-B214-312A-4F5F5B8B7AE9}"/>
              </a:ext>
            </a:extLst>
          </p:cNvPr>
          <p:cNvSpPr/>
          <p:nvPr/>
        </p:nvSpPr>
        <p:spPr>
          <a:xfrm>
            <a:off x="361950" y="3714752"/>
            <a:ext cx="1862137" cy="3619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Define a TOOL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806866E-2CA1-FB80-EDEF-25ECA409404F}"/>
              </a:ext>
            </a:extLst>
          </p:cNvPr>
          <p:cNvSpPr/>
          <p:nvPr/>
        </p:nvSpPr>
        <p:spPr>
          <a:xfrm>
            <a:off x="667838" y="4389139"/>
            <a:ext cx="1581150" cy="883245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Create a tool-calling AGENT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0876028-DD91-54CF-F874-F0CB37638A63}"/>
              </a:ext>
            </a:extLst>
          </p:cNvPr>
          <p:cNvSpPr/>
          <p:nvPr/>
        </p:nvSpPr>
        <p:spPr>
          <a:xfrm>
            <a:off x="554729" y="5738815"/>
            <a:ext cx="1807368" cy="361951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Run the agent</a:t>
            </a:r>
          </a:p>
        </p:txBody>
      </p:sp>
      <p:pic>
        <p:nvPicPr>
          <p:cNvPr id="9" name="Graphic 8" descr="Badge 3 with solid fill">
            <a:extLst>
              <a:ext uri="{FF2B5EF4-FFF2-40B4-BE49-F238E27FC236}">
                <a16:creationId xmlns:a16="http://schemas.microsoft.com/office/drawing/2014/main" id="{E6C60918-C64D-66F0-819B-CC3194A969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703" y="5559790"/>
            <a:ext cx="720000" cy="720000"/>
          </a:xfrm>
          <a:prstGeom prst="rect">
            <a:avLst/>
          </a:prstGeom>
        </p:spPr>
      </p:pic>
      <p:pic>
        <p:nvPicPr>
          <p:cNvPr id="12" name="Graphic 11" descr="Badge with solid fill">
            <a:extLst>
              <a:ext uri="{FF2B5EF4-FFF2-40B4-BE49-F238E27FC236}">
                <a16:creationId xmlns:a16="http://schemas.microsoft.com/office/drawing/2014/main" id="{43024297-1F29-D6DD-9C73-47F0827EC46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5322" y="4425600"/>
            <a:ext cx="720000" cy="720000"/>
          </a:xfrm>
          <a:prstGeom prst="rect">
            <a:avLst/>
          </a:prstGeom>
        </p:spPr>
      </p:pic>
      <p:pic>
        <p:nvPicPr>
          <p:cNvPr id="14" name="Graphic 13" descr="Badge 1 with solid fill">
            <a:extLst>
              <a:ext uri="{FF2B5EF4-FFF2-40B4-BE49-F238E27FC236}">
                <a16:creationId xmlns:a16="http://schemas.microsoft.com/office/drawing/2014/main" id="{5ADC7285-9FEB-13A8-5CA3-AA729D50751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0" y="3625727"/>
            <a:ext cx="540000" cy="540000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BF9D1AC-D5A6-2CDB-E7EE-20332F7B7F31}"/>
              </a:ext>
            </a:extLst>
          </p:cNvPr>
          <p:cNvSpPr/>
          <p:nvPr/>
        </p:nvSpPr>
        <p:spPr>
          <a:xfrm>
            <a:off x="2170105" y="5471416"/>
            <a:ext cx="3802070" cy="790643"/>
          </a:xfrm>
          <a:prstGeom prst="roundRect">
            <a:avLst/>
          </a:prstGeom>
          <a:solidFill>
            <a:srgbClr val="104862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6D2CB50-3928-155E-02E6-66B5E042D686}"/>
              </a:ext>
            </a:extLst>
          </p:cNvPr>
          <p:cNvSpPr/>
          <p:nvPr/>
        </p:nvSpPr>
        <p:spPr>
          <a:xfrm>
            <a:off x="2093905" y="4537340"/>
            <a:ext cx="3349633" cy="662721"/>
          </a:xfrm>
          <a:prstGeom prst="roundRect">
            <a:avLst/>
          </a:prstGeom>
          <a:solidFill>
            <a:srgbClr val="104862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51869DF-67FB-B407-9251-94ACF7DD7499}"/>
              </a:ext>
            </a:extLst>
          </p:cNvPr>
          <p:cNvSpPr/>
          <p:nvPr/>
        </p:nvSpPr>
        <p:spPr>
          <a:xfrm>
            <a:off x="2179376" y="3714751"/>
            <a:ext cx="2949838" cy="513095"/>
          </a:xfrm>
          <a:prstGeom prst="roundRect">
            <a:avLst/>
          </a:prstGeom>
          <a:solidFill>
            <a:srgbClr val="104862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91534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EFBE6-6B62-80D3-A66D-8785FFEFD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CD111-7290-D4D0-9A7E-7187BF1D946B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oundRect">
            <a:avLst/>
          </a:prstGeom>
          <a:solidFill>
            <a:schemeClr val="accent1"/>
          </a:solidFill>
        </p:spPr>
        <p:txBody>
          <a:bodyPr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Practical Tutorial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74F848C-0684-E160-13D6-2A4FE0C62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14F82-BE8C-4CA8-BA76-52B2F053D2D8}" type="slidenum">
              <a:rPr lang="en-GB" smtClean="0"/>
              <a:t>7</a:t>
            </a:fld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AE2182-036B-E050-344D-E15DEBB6E618}"/>
              </a:ext>
            </a:extLst>
          </p:cNvPr>
          <p:cNvSpPr txBox="1"/>
          <p:nvPr/>
        </p:nvSpPr>
        <p:spPr>
          <a:xfrm>
            <a:off x="1307669" y="3998808"/>
            <a:ext cx="95766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Please, open the following notebook:</a:t>
            </a:r>
          </a:p>
          <a:p>
            <a:pPr algn="ctr"/>
            <a:r>
              <a:rPr lang="en-GB" dirty="0">
                <a:hlinkClick r:id="rId3"/>
              </a:rPr>
              <a:t>https://colab.research.google.com/github/saturnMars/FM_2025/blob/main/Lab4_agents.ipynb</a:t>
            </a:r>
            <a:endParaRPr lang="en-GB" dirty="0"/>
          </a:p>
        </p:txBody>
      </p:sp>
      <p:pic>
        <p:nvPicPr>
          <p:cNvPr id="6" name="Picture 5" descr="A logo with orange circles&#10;&#10;AI-generated content may be incorrect.">
            <a:extLst>
              <a:ext uri="{FF2B5EF4-FFF2-40B4-BE49-F238E27FC236}">
                <a16:creationId xmlns:a16="http://schemas.microsoft.com/office/drawing/2014/main" id="{42EF4BEA-FA4D-434C-3661-B3ADAD0715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7603" y="2506407"/>
            <a:ext cx="2116791" cy="1303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8479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ECF97-3E86-8493-F084-56EF2044B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70CF6-CF84-9FC3-4396-2FD6DD61552B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oundRect">
            <a:avLst/>
          </a:prstGeom>
          <a:solidFill>
            <a:schemeClr val="accent1"/>
          </a:solidFill>
        </p:spPr>
        <p:txBody>
          <a:bodyPr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 QUIZ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2B2CF99-9904-8FF7-EF7D-DE6EA4200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14F82-BE8C-4CA8-BA76-52B2F053D2D8}" type="slidenum">
              <a:rPr lang="en-GB" smtClean="0"/>
              <a:t>8</a:t>
            </a:fld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0972FA-13E9-2997-8BEB-D844B54EC51A}"/>
              </a:ext>
            </a:extLst>
          </p:cNvPr>
          <p:cNvSpPr txBox="1"/>
          <p:nvPr/>
        </p:nvSpPr>
        <p:spPr>
          <a:xfrm>
            <a:off x="6973838" y="3377187"/>
            <a:ext cx="35173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MENTI</a:t>
            </a:r>
            <a:r>
              <a:rPr lang="en-GB" sz="2000" b="1" dirty="0"/>
              <a:t> </a:t>
            </a:r>
            <a:r>
              <a:rPr lang="en-GB" sz="2000" dirty="0"/>
              <a:t>(</a:t>
            </a:r>
            <a:r>
              <a:rPr lang="en-GB" dirty="0"/>
              <a:t>6672 8392</a:t>
            </a:r>
            <a:r>
              <a:rPr lang="en-GB" sz="2000" dirty="0"/>
              <a:t>)</a:t>
            </a:r>
          </a:p>
          <a:p>
            <a:pPr algn="ctr"/>
            <a:r>
              <a:rPr lang="en-GB" sz="1600" dirty="0">
                <a:hlinkClick r:id="rId2"/>
              </a:rPr>
              <a:t>https://www.menti.com/alna8gf2nrfw</a:t>
            </a:r>
            <a:endParaRPr lang="en-GB" sz="1600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4161A5C3-10EF-AE77-3E73-F482256BF5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3960" y="2031632"/>
            <a:ext cx="4461243" cy="4461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7418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1099</TotalTime>
  <Words>447</Words>
  <Application>Microsoft Office PowerPoint</Application>
  <PresentationFormat>Widescreen</PresentationFormat>
  <Paragraphs>70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Courier New</vt:lpstr>
      <vt:lpstr>Wingdings</vt:lpstr>
      <vt:lpstr>Office Theme</vt:lpstr>
      <vt:lpstr>Foundation Models</vt:lpstr>
      <vt:lpstr>Overview</vt:lpstr>
      <vt:lpstr>Agents</vt:lpstr>
      <vt:lpstr>Conversational Agents (i.e., Chat Bot)</vt:lpstr>
      <vt:lpstr>Tools</vt:lpstr>
      <vt:lpstr>LangChain 🦜️🔗</vt:lpstr>
      <vt:lpstr>Practical Tutorial</vt:lpstr>
      <vt:lpstr> QUIZ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Marco Bronzini</dc:creator>
  <cp:lastModifiedBy>Marco Bronzini</cp:lastModifiedBy>
  <cp:revision>14</cp:revision>
  <dcterms:created xsi:type="dcterms:W3CDTF">2025-10-21T08:10:59Z</dcterms:created>
  <dcterms:modified xsi:type="dcterms:W3CDTF">2025-11-12T13:51:01Z</dcterms:modified>
</cp:coreProperties>
</file>